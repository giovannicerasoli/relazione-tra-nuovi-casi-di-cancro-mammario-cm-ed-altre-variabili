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1"/>
  </p:notesMasterIdLst>
  <p:sldIdLst>
    <p:sldId id="256" r:id="rId2"/>
    <p:sldId id="257" r:id="rId3"/>
    <p:sldId id="272" r:id="rId4"/>
    <p:sldId id="274" r:id="rId5"/>
    <p:sldId id="259" r:id="rId6"/>
    <p:sldId id="260" r:id="rId7"/>
    <p:sldId id="258" r:id="rId8"/>
    <p:sldId id="264" r:id="rId9"/>
    <p:sldId id="269" r:id="rId10"/>
    <p:sldId id="265" r:id="rId11"/>
    <p:sldId id="275" r:id="rId12"/>
    <p:sldId id="278" r:id="rId13"/>
    <p:sldId id="276" r:id="rId14"/>
    <p:sldId id="273" r:id="rId15"/>
    <p:sldId id="266" r:id="rId16"/>
    <p:sldId id="267" r:id="rId17"/>
    <p:sldId id="277" r:id="rId18"/>
    <p:sldId id="268" r:id="rId19"/>
    <p:sldId id="270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A837B-B565-4B9C-A575-3DEA6C0F19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D96BF5-3E23-423E-AAA3-B945FB92DBD0}">
      <dgm:prSet/>
      <dgm:spPr/>
      <dgm:t>
        <a:bodyPr/>
        <a:lstStyle/>
        <a:p>
          <a:r>
            <a:rPr lang="it-IT" dirty="0"/>
            <a:t>Case: casi di cancro mammario </a:t>
          </a:r>
          <a:endParaRPr lang="en-US" dirty="0"/>
        </a:p>
      </dgm:t>
    </dgm:pt>
    <dgm:pt modelId="{56D6B5DF-41B3-4B40-BE43-B5AE9C2AA61C}" type="parTrans" cxnId="{7154544B-E7CE-45C6-98B2-D1788AC23648}">
      <dgm:prSet/>
      <dgm:spPr/>
      <dgm:t>
        <a:bodyPr/>
        <a:lstStyle/>
        <a:p>
          <a:endParaRPr lang="en-US"/>
        </a:p>
      </dgm:t>
    </dgm:pt>
    <dgm:pt modelId="{E8464A8E-E3F4-43B3-9078-3B9ABE96DE0C}" type="sibTrans" cxnId="{7154544B-E7CE-45C6-98B2-D1788AC23648}">
      <dgm:prSet/>
      <dgm:spPr/>
      <dgm:t>
        <a:bodyPr/>
        <a:lstStyle/>
        <a:p>
          <a:endParaRPr lang="en-US"/>
        </a:p>
      </dgm:t>
    </dgm:pt>
    <dgm:pt modelId="{77C5C33C-C7F4-4FB3-9A2B-D2F01855C868}">
      <dgm:prSet/>
      <dgm:spPr/>
      <dgm:t>
        <a:bodyPr/>
        <a:lstStyle/>
        <a:p>
          <a:r>
            <a:rPr lang="it-IT" dirty="0" err="1"/>
            <a:t>Popu</a:t>
          </a:r>
          <a:r>
            <a:rPr lang="it-IT" dirty="0"/>
            <a:t>: popolazione a rischio</a:t>
          </a:r>
          <a:endParaRPr lang="en-US" dirty="0"/>
        </a:p>
      </dgm:t>
    </dgm:pt>
    <dgm:pt modelId="{7FDA7A39-5D39-437D-848D-7619D2ABDA5A}" type="parTrans" cxnId="{C29FC64E-2132-4862-9FBF-FA0856D253CB}">
      <dgm:prSet/>
      <dgm:spPr/>
      <dgm:t>
        <a:bodyPr/>
        <a:lstStyle/>
        <a:p>
          <a:endParaRPr lang="en-US"/>
        </a:p>
      </dgm:t>
    </dgm:pt>
    <dgm:pt modelId="{44896409-F185-481B-A6BE-DF38F25EF703}" type="sibTrans" cxnId="{C29FC64E-2132-4862-9FBF-FA0856D253CB}">
      <dgm:prSet/>
      <dgm:spPr/>
      <dgm:t>
        <a:bodyPr/>
        <a:lstStyle/>
        <a:p>
          <a:endParaRPr lang="en-US"/>
        </a:p>
      </dgm:t>
    </dgm:pt>
    <dgm:pt modelId="{AC39316C-2B96-48FB-A1B5-B678450C457D}">
      <dgm:prSet/>
      <dgm:spPr/>
      <dgm:t>
        <a:bodyPr/>
        <a:lstStyle/>
        <a:p>
          <a:r>
            <a:rPr lang="it-IT"/>
            <a:t>Area: area geografica (0 = area A; 1 = area B)</a:t>
          </a:r>
          <a:endParaRPr lang="en-US"/>
        </a:p>
      </dgm:t>
    </dgm:pt>
    <dgm:pt modelId="{7CF7C42F-5168-43C9-8F08-C258447B0229}" type="parTrans" cxnId="{ADD90334-791E-4155-8E46-FC1A9CD80CA2}">
      <dgm:prSet/>
      <dgm:spPr/>
      <dgm:t>
        <a:bodyPr/>
        <a:lstStyle/>
        <a:p>
          <a:endParaRPr lang="en-US"/>
        </a:p>
      </dgm:t>
    </dgm:pt>
    <dgm:pt modelId="{4477CF37-B0ED-4E6A-A6C7-101240E81D2C}" type="sibTrans" cxnId="{ADD90334-791E-4155-8E46-FC1A9CD80CA2}">
      <dgm:prSet/>
      <dgm:spPr/>
      <dgm:t>
        <a:bodyPr/>
        <a:lstStyle/>
        <a:p>
          <a:endParaRPr lang="en-US"/>
        </a:p>
      </dgm:t>
    </dgm:pt>
    <dgm:pt modelId="{C6C61D15-DD0A-4C4D-A094-1C1DB02E3BE0}">
      <dgm:prSet/>
      <dgm:spPr/>
      <dgm:t>
        <a:bodyPr/>
        <a:lstStyle/>
        <a:p>
          <a:r>
            <a:rPr lang="it-IT" dirty="0" err="1"/>
            <a:t>Aged</a:t>
          </a:r>
          <a:r>
            <a:rPr lang="it-IT" dirty="0"/>
            <a:t>: classe di età (1 = 21 – 30; 2 = 31 – 40; 3 = 41 – 50; 4 = 51 – 60; 5 = 61 - 70)</a:t>
          </a:r>
          <a:endParaRPr lang="en-US" dirty="0"/>
        </a:p>
      </dgm:t>
    </dgm:pt>
    <dgm:pt modelId="{2AC5FEC9-B091-40F7-9C8C-4A6AA3515C6A}" type="parTrans" cxnId="{5BD299D0-EC0C-4AE4-95E0-E2690A78499A}">
      <dgm:prSet/>
      <dgm:spPr/>
      <dgm:t>
        <a:bodyPr/>
        <a:lstStyle/>
        <a:p>
          <a:endParaRPr lang="en-US"/>
        </a:p>
      </dgm:t>
    </dgm:pt>
    <dgm:pt modelId="{61D9ED48-9C57-40AA-A1DA-E32BE2552E2B}" type="sibTrans" cxnId="{5BD299D0-EC0C-4AE4-95E0-E2690A78499A}">
      <dgm:prSet/>
      <dgm:spPr/>
      <dgm:t>
        <a:bodyPr/>
        <a:lstStyle/>
        <a:p>
          <a:endParaRPr lang="en-US"/>
        </a:p>
      </dgm:t>
    </dgm:pt>
    <dgm:pt modelId="{62A9E34F-AF75-494A-80D0-87695F8BC154}">
      <dgm:prSet/>
      <dgm:spPr/>
      <dgm:t>
        <a:bodyPr/>
        <a:lstStyle/>
        <a:p>
          <a:r>
            <a:rPr lang="it-IT"/>
            <a:t>Year: anno di calendario (dal 1995 al 2006)</a:t>
          </a:r>
          <a:endParaRPr lang="en-US"/>
        </a:p>
      </dgm:t>
    </dgm:pt>
    <dgm:pt modelId="{CCEFB38A-C0C8-4C1A-9802-B47FD0DCBDEB}" type="parTrans" cxnId="{96DDDEF7-B7C9-47D7-B8E2-4C1F01B4026C}">
      <dgm:prSet/>
      <dgm:spPr/>
      <dgm:t>
        <a:bodyPr/>
        <a:lstStyle/>
        <a:p>
          <a:endParaRPr lang="en-US"/>
        </a:p>
      </dgm:t>
    </dgm:pt>
    <dgm:pt modelId="{79866347-DEBB-4BCA-8688-0EEA483E5F82}" type="sibTrans" cxnId="{96DDDEF7-B7C9-47D7-B8E2-4C1F01B4026C}">
      <dgm:prSet/>
      <dgm:spPr/>
      <dgm:t>
        <a:bodyPr/>
        <a:lstStyle/>
        <a:p>
          <a:endParaRPr lang="en-US"/>
        </a:p>
      </dgm:t>
    </dgm:pt>
    <dgm:pt modelId="{1E400241-A1D5-4564-8063-63D144A99F27}" type="pres">
      <dgm:prSet presAssocID="{105A837B-B565-4B9C-A575-3DEA6C0F194B}" presName="linear" presStyleCnt="0">
        <dgm:presLayoutVars>
          <dgm:animLvl val="lvl"/>
          <dgm:resizeHandles val="exact"/>
        </dgm:presLayoutVars>
      </dgm:prSet>
      <dgm:spPr/>
    </dgm:pt>
    <dgm:pt modelId="{95438FC0-52E0-4E74-993D-418E741D5A81}" type="pres">
      <dgm:prSet presAssocID="{85D96BF5-3E23-423E-AAA3-B945FB92DBD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7212D7-3161-44BC-B222-3D71C29238B9}" type="pres">
      <dgm:prSet presAssocID="{E8464A8E-E3F4-43B3-9078-3B9ABE96DE0C}" presName="spacer" presStyleCnt="0"/>
      <dgm:spPr/>
    </dgm:pt>
    <dgm:pt modelId="{33E5FE70-2F67-4B1F-A47C-6DCACBAFDCA1}" type="pres">
      <dgm:prSet presAssocID="{77C5C33C-C7F4-4FB3-9A2B-D2F01855C86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FA0F08E-CFA3-46E5-B925-0E6E49812B9D}" type="pres">
      <dgm:prSet presAssocID="{44896409-F185-481B-A6BE-DF38F25EF703}" presName="spacer" presStyleCnt="0"/>
      <dgm:spPr/>
    </dgm:pt>
    <dgm:pt modelId="{D5CC5745-A51D-4D89-8F30-6603F05FB8CA}" type="pres">
      <dgm:prSet presAssocID="{AC39316C-2B96-48FB-A1B5-B678450C457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5FF8C54-6ED0-4172-AECA-A3347EA5D0CA}" type="pres">
      <dgm:prSet presAssocID="{4477CF37-B0ED-4E6A-A6C7-101240E81D2C}" presName="spacer" presStyleCnt="0"/>
      <dgm:spPr/>
    </dgm:pt>
    <dgm:pt modelId="{C18ECB38-1219-4B32-95EB-5B837C0709D0}" type="pres">
      <dgm:prSet presAssocID="{C6C61D15-DD0A-4C4D-A094-1C1DB02E3B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6EAE45-052B-46BE-A689-9764616C2D27}" type="pres">
      <dgm:prSet presAssocID="{61D9ED48-9C57-40AA-A1DA-E32BE2552E2B}" presName="spacer" presStyleCnt="0"/>
      <dgm:spPr/>
    </dgm:pt>
    <dgm:pt modelId="{1101B579-63D0-4E3D-A9E0-BD5E4B8850CA}" type="pres">
      <dgm:prSet presAssocID="{62A9E34F-AF75-494A-80D0-87695F8BC15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F31FF05-3A71-4628-BFF6-949193ED4564}" type="presOf" srcId="{77C5C33C-C7F4-4FB3-9A2B-D2F01855C868}" destId="{33E5FE70-2F67-4B1F-A47C-6DCACBAFDCA1}" srcOrd="0" destOrd="0" presId="urn:microsoft.com/office/officeart/2005/8/layout/vList2"/>
    <dgm:cxn modelId="{4646561B-EB05-480E-B3D0-2C97BD4435FD}" type="presOf" srcId="{AC39316C-2B96-48FB-A1B5-B678450C457D}" destId="{D5CC5745-A51D-4D89-8F30-6603F05FB8CA}" srcOrd="0" destOrd="0" presId="urn:microsoft.com/office/officeart/2005/8/layout/vList2"/>
    <dgm:cxn modelId="{ADD90334-791E-4155-8E46-FC1A9CD80CA2}" srcId="{105A837B-B565-4B9C-A575-3DEA6C0F194B}" destId="{AC39316C-2B96-48FB-A1B5-B678450C457D}" srcOrd="2" destOrd="0" parTransId="{7CF7C42F-5168-43C9-8F08-C258447B0229}" sibTransId="{4477CF37-B0ED-4E6A-A6C7-101240E81D2C}"/>
    <dgm:cxn modelId="{7154544B-E7CE-45C6-98B2-D1788AC23648}" srcId="{105A837B-B565-4B9C-A575-3DEA6C0F194B}" destId="{85D96BF5-3E23-423E-AAA3-B945FB92DBD0}" srcOrd="0" destOrd="0" parTransId="{56D6B5DF-41B3-4B40-BE43-B5AE9C2AA61C}" sibTransId="{E8464A8E-E3F4-43B3-9078-3B9ABE96DE0C}"/>
    <dgm:cxn modelId="{C29FC64E-2132-4862-9FBF-FA0856D253CB}" srcId="{105A837B-B565-4B9C-A575-3DEA6C0F194B}" destId="{77C5C33C-C7F4-4FB3-9A2B-D2F01855C868}" srcOrd="1" destOrd="0" parTransId="{7FDA7A39-5D39-437D-848D-7619D2ABDA5A}" sibTransId="{44896409-F185-481B-A6BE-DF38F25EF703}"/>
    <dgm:cxn modelId="{AD24244F-3493-4136-AE17-B1F5C7D5D3F5}" type="presOf" srcId="{85D96BF5-3E23-423E-AAA3-B945FB92DBD0}" destId="{95438FC0-52E0-4E74-993D-418E741D5A81}" srcOrd="0" destOrd="0" presId="urn:microsoft.com/office/officeart/2005/8/layout/vList2"/>
    <dgm:cxn modelId="{D05F337D-0FC3-4288-9ED5-708BE1F331B8}" type="presOf" srcId="{62A9E34F-AF75-494A-80D0-87695F8BC154}" destId="{1101B579-63D0-4E3D-A9E0-BD5E4B8850CA}" srcOrd="0" destOrd="0" presId="urn:microsoft.com/office/officeart/2005/8/layout/vList2"/>
    <dgm:cxn modelId="{5BD299D0-EC0C-4AE4-95E0-E2690A78499A}" srcId="{105A837B-B565-4B9C-A575-3DEA6C0F194B}" destId="{C6C61D15-DD0A-4C4D-A094-1C1DB02E3BE0}" srcOrd="3" destOrd="0" parTransId="{2AC5FEC9-B091-40F7-9C8C-4A6AA3515C6A}" sibTransId="{61D9ED48-9C57-40AA-A1DA-E32BE2552E2B}"/>
    <dgm:cxn modelId="{80DE7DD5-B476-4449-95DC-D6F229F62B29}" type="presOf" srcId="{C6C61D15-DD0A-4C4D-A094-1C1DB02E3BE0}" destId="{C18ECB38-1219-4B32-95EB-5B837C0709D0}" srcOrd="0" destOrd="0" presId="urn:microsoft.com/office/officeart/2005/8/layout/vList2"/>
    <dgm:cxn modelId="{96DDDEF7-B7C9-47D7-B8E2-4C1F01B4026C}" srcId="{105A837B-B565-4B9C-A575-3DEA6C0F194B}" destId="{62A9E34F-AF75-494A-80D0-87695F8BC154}" srcOrd="4" destOrd="0" parTransId="{CCEFB38A-C0C8-4C1A-9802-B47FD0DCBDEB}" sibTransId="{79866347-DEBB-4BCA-8688-0EEA483E5F82}"/>
    <dgm:cxn modelId="{08E6D8FE-515E-463D-8F00-5D053F0E31B8}" type="presOf" srcId="{105A837B-B565-4B9C-A575-3DEA6C0F194B}" destId="{1E400241-A1D5-4564-8063-63D144A99F27}" srcOrd="0" destOrd="0" presId="urn:microsoft.com/office/officeart/2005/8/layout/vList2"/>
    <dgm:cxn modelId="{076AF5C1-92CF-4A5B-8A0D-DE39CC227CAE}" type="presParOf" srcId="{1E400241-A1D5-4564-8063-63D144A99F27}" destId="{95438FC0-52E0-4E74-993D-418E741D5A81}" srcOrd="0" destOrd="0" presId="urn:microsoft.com/office/officeart/2005/8/layout/vList2"/>
    <dgm:cxn modelId="{2A04630B-4DC2-4A64-9E87-07D7A121578D}" type="presParOf" srcId="{1E400241-A1D5-4564-8063-63D144A99F27}" destId="{4F7212D7-3161-44BC-B222-3D71C29238B9}" srcOrd="1" destOrd="0" presId="urn:microsoft.com/office/officeart/2005/8/layout/vList2"/>
    <dgm:cxn modelId="{206A413E-DFDF-4B7F-B4B7-ACA82F464CAC}" type="presParOf" srcId="{1E400241-A1D5-4564-8063-63D144A99F27}" destId="{33E5FE70-2F67-4B1F-A47C-6DCACBAFDCA1}" srcOrd="2" destOrd="0" presId="urn:microsoft.com/office/officeart/2005/8/layout/vList2"/>
    <dgm:cxn modelId="{C93C0EF1-8C80-42A6-AD3F-305D35EF12F3}" type="presParOf" srcId="{1E400241-A1D5-4564-8063-63D144A99F27}" destId="{CFA0F08E-CFA3-46E5-B925-0E6E49812B9D}" srcOrd="3" destOrd="0" presId="urn:microsoft.com/office/officeart/2005/8/layout/vList2"/>
    <dgm:cxn modelId="{E5B5F6F7-13F4-4081-BCC7-02DDE022C43F}" type="presParOf" srcId="{1E400241-A1D5-4564-8063-63D144A99F27}" destId="{D5CC5745-A51D-4D89-8F30-6603F05FB8CA}" srcOrd="4" destOrd="0" presId="urn:microsoft.com/office/officeart/2005/8/layout/vList2"/>
    <dgm:cxn modelId="{CF433097-CFA2-40DE-B60C-15BB1950264F}" type="presParOf" srcId="{1E400241-A1D5-4564-8063-63D144A99F27}" destId="{75FF8C54-6ED0-4172-AECA-A3347EA5D0CA}" srcOrd="5" destOrd="0" presId="urn:microsoft.com/office/officeart/2005/8/layout/vList2"/>
    <dgm:cxn modelId="{0BAC2F8C-3435-4C22-8920-BBA342971267}" type="presParOf" srcId="{1E400241-A1D5-4564-8063-63D144A99F27}" destId="{C18ECB38-1219-4B32-95EB-5B837C0709D0}" srcOrd="6" destOrd="0" presId="urn:microsoft.com/office/officeart/2005/8/layout/vList2"/>
    <dgm:cxn modelId="{1B683435-C17D-42D6-82DC-F1097C04A98D}" type="presParOf" srcId="{1E400241-A1D5-4564-8063-63D144A99F27}" destId="{ED6EAE45-052B-46BE-A689-9764616C2D27}" srcOrd="7" destOrd="0" presId="urn:microsoft.com/office/officeart/2005/8/layout/vList2"/>
    <dgm:cxn modelId="{AAD4C73C-BB0E-4681-B4EC-710826447CDD}" type="presParOf" srcId="{1E400241-A1D5-4564-8063-63D144A99F27}" destId="{1101B579-63D0-4E3D-A9E0-BD5E4B8850C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5A837B-B565-4B9C-A575-3DEA6C0F19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D96BF5-3E23-423E-AAA3-B945FB92DBD0}">
      <dgm:prSet custT="1"/>
      <dgm:spPr/>
      <dgm:t>
        <a:bodyPr/>
        <a:lstStyle/>
        <a:p>
          <a:r>
            <a:rPr lang="it-IT" sz="2200" dirty="0"/>
            <a:t>Tasso: casi di cancro mammario sulla popolazione a rischio, per 100000</a:t>
          </a:r>
          <a:endParaRPr lang="en-US" sz="2200" dirty="0"/>
        </a:p>
      </dgm:t>
    </dgm:pt>
    <dgm:pt modelId="{56D6B5DF-41B3-4B40-BE43-B5AE9C2AA61C}" type="parTrans" cxnId="{7154544B-E7CE-45C6-98B2-D1788AC23648}">
      <dgm:prSet/>
      <dgm:spPr/>
      <dgm:t>
        <a:bodyPr/>
        <a:lstStyle/>
        <a:p>
          <a:endParaRPr lang="en-US"/>
        </a:p>
      </dgm:t>
    </dgm:pt>
    <dgm:pt modelId="{E8464A8E-E3F4-43B3-9078-3B9ABE96DE0C}" type="sibTrans" cxnId="{7154544B-E7CE-45C6-98B2-D1788AC23648}">
      <dgm:prSet/>
      <dgm:spPr/>
      <dgm:t>
        <a:bodyPr/>
        <a:lstStyle/>
        <a:p>
          <a:endParaRPr lang="en-US"/>
        </a:p>
      </dgm:t>
    </dgm:pt>
    <dgm:pt modelId="{77C5C33C-C7F4-4FB3-9A2B-D2F01855C868}">
      <dgm:prSet custT="1"/>
      <dgm:spPr/>
      <dgm:t>
        <a:bodyPr/>
        <a:lstStyle/>
        <a:p>
          <a:r>
            <a:rPr lang="it-IT" sz="2200" dirty="0" err="1"/>
            <a:t>Log_tasso</a:t>
          </a:r>
          <a:r>
            <a:rPr lang="it-IT" sz="2200" dirty="0"/>
            <a:t>: logaritmo del tasso</a:t>
          </a:r>
          <a:endParaRPr lang="en-US" sz="2200" dirty="0"/>
        </a:p>
      </dgm:t>
    </dgm:pt>
    <dgm:pt modelId="{7FDA7A39-5D39-437D-848D-7619D2ABDA5A}" type="parTrans" cxnId="{C29FC64E-2132-4862-9FBF-FA0856D253CB}">
      <dgm:prSet/>
      <dgm:spPr/>
      <dgm:t>
        <a:bodyPr/>
        <a:lstStyle/>
        <a:p>
          <a:endParaRPr lang="en-US"/>
        </a:p>
      </dgm:t>
    </dgm:pt>
    <dgm:pt modelId="{44896409-F185-481B-A6BE-DF38F25EF703}" type="sibTrans" cxnId="{C29FC64E-2132-4862-9FBF-FA0856D253CB}">
      <dgm:prSet/>
      <dgm:spPr/>
      <dgm:t>
        <a:bodyPr/>
        <a:lstStyle/>
        <a:p>
          <a:endParaRPr lang="en-US"/>
        </a:p>
      </dgm:t>
    </dgm:pt>
    <dgm:pt modelId="{AC39316C-2B96-48FB-A1B5-B678450C457D}">
      <dgm:prSet custT="1"/>
      <dgm:spPr/>
      <dgm:t>
        <a:bodyPr/>
        <a:lstStyle/>
        <a:p>
          <a:r>
            <a:rPr lang="it-IT" sz="2200" dirty="0"/>
            <a:t>Age: età numerica (25 per 21 – 30; 35 per 31 – 40; 45 per 41 – 50; 55 per 51 – 60; 65 per 61 - 70)</a:t>
          </a:r>
          <a:endParaRPr lang="en-US" sz="2200" dirty="0"/>
        </a:p>
      </dgm:t>
    </dgm:pt>
    <dgm:pt modelId="{7CF7C42F-5168-43C9-8F08-C258447B0229}" type="parTrans" cxnId="{ADD90334-791E-4155-8E46-FC1A9CD80CA2}">
      <dgm:prSet/>
      <dgm:spPr/>
      <dgm:t>
        <a:bodyPr/>
        <a:lstStyle/>
        <a:p>
          <a:endParaRPr lang="en-US"/>
        </a:p>
      </dgm:t>
    </dgm:pt>
    <dgm:pt modelId="{4477CF37-B0ED-4E6A-A6C7-101240E81D2C}" type="sibTrans" cxnId="{ADD90334-791E-4155-8E46-FC1A9CD80CA2}">
      <dgm:prSet/>
      <dgm:spPr/>
      <dgm:t>
        <a:bodyPr/>
        <a:lstStyle/>
        <a:p>
          <a:endParaRPr lang="en-US"/>
        </a:p>
      </dgm:t>
    </dgm:pt>
    <dgm:pt modelId="{C6C61D15-DD0A-4C4D-A094-1C1DB02E3BE0}">
      <dgm:prSet custT="1"/>
      <dgm:spPr/>
      <dgm:t>
        <a:bodyPr/>
        <a:lstStyle/>
        <a:p>
          <a:r>
            <a:rPr lang="en-US" sz="2200" dirty="0"/>
            <a:t>Age2:</a:t>
          </a:r>
          <a:r>
            <a:rPr lang="en-US" sz="2200" baseline="0" dirty="0"/>
            <a:t> </a:t>
          </a:r>
          <a:r>
            <a:rPr lang="en-US" sz="2200" baseline="0" dirty="0" err="1"/>
            <a:t>età</a:t>
          </a:r>
          <a:r>
            <a:rPr lang="en-US" sz="2200" baseline="0" dirty="0"/>
            <a:t> </a:t>
          </a:r>
          <a:r>
            <a:rPr lang="en-US" sz="2200" baseline="0" dirty="0" err="1"/>
            <a:t>numerica</a:t>
          </a:r>
          <a:r>
            <a:rPr lang="en-US" sz="2200" baseline="0" dirty="0"/>
            <a:t> al </a:t>
          </a:r>
          <a:r>
            <a:rPr lang="en-US" sz="2200" baseline="0" dirty="0" err="1"/>
            <a:t>quadrato</a:t>
          </a:r>
          <a:endParaRPr lang="en-US" sz="2200" dirty="0"/>
        </a:p>
      </dgm:t>
    </dgm:pt>
    <dgm:pt modelId="{2AC5FEC9-B091-40F7-9C8C-4A6AA3515C6A}" type="parTrans" cxnId="{5BD299D0-EC0C-4AE4-95E0-E2690A78499A}">
      <dgm:prSet/>
      <dgm:spPr/>
      <dgm:t>
        <a:bodyPr/>
        <a:lstStyle/>
        <a:p>
          <a:endParaRPr lang="en-US"/>
        </a:p>
      </dgm:t>
    </dgm:pt>
    <dgm:pt modelId="{61D9ED48-9C57-40AA-A1DA-E32BE2552E2B}" type="sibTrans" cxnId="{5BD299D0-EC0C-4AE4-95E0-E2690A78499A}">
      <dgm:prSet/>
      <dgm:spPr/>
      <dgm:t>
        <a:bodyPr/>
        <a:lstStyle/>
        <a:p>
          <a:endParaRPr lang="en-US"/>
        </a:p>
      </dgm:t>
    </dgm:pt>
    <dgm:pt modelId="{1E400241-A1D5-4564-8063-63D144A99F27}" type="pres">
      <dgm:prSet presAssocID="{105A837B-B565-4B9C-A575-3DEA6C0F194B}" presName="linear" presStyleCnt="0">
        <dgm:presLayoutVars>
          <dgm:animLvl val="lvl"/>
          <dgm:resizeHandles val="exact"/>
        </dgm:presLayoutVars>
      </dgm:prSet>
      <dgm:spPr/>
    </dgm:pt>
    <dgm:pt modelId="{95438FC0-52E0-4E74-993D-418E741D5A81}" type="pres">
      <dgm:prSet presAssocID="{85D96BF5-3E23-423E-AAA3-B945FB92DB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7212D7-3161-44BC-B222-3D71C29238B9}" type="pres">
      <dgm:prSet presAssocID="{E8464A8E-E3F4-43B3-9078-3B9ABE96DE0C}" presName="spacer" presStyleCnt="0"/>
      <dgm:spPr/>
    </dgm:pt>
    <dgm:pt modelId="{33E5FE70-2F67-4B1F-A47C-6DCACBAFDCA1}" type="pres">
      <dgm:prSet presAssocID="{77C5C33C-C7F4-4FB3-9A2B-D2F01855C868}" presName="parentText" presStyleLbl="node1" presStyleIdx="1" presStyleCnt="4" custLinFactNeighborX="-4084">
        <dgm:presLayoutVars>
          <dgm:chMax val="0"/>
          <dgm:bulletEnabled val="1"/>
        </dgm:presLayoutVars>
      </dgm:prSet>
      <dgm:spPr/>
    </dgm:pt>
    <dgm:pt modelId="{CFA0F08E-CFA3-46E5-B925-0E6E49812B9D}" type="pres">
      <dgm:prSet presAssocID="{44896409-F185-481B-A6BE-DF38F25EF703}" presName="spacer" presStyleCnt="0"/>
      <dgm:spPr/>
    </dgm:pt>
    <dgm:pt modelId="{D5CC5745-A51D-4D89-8F30-6603F05FB8CA}" type="pres">
      <dgm:prSet presAssocID="{AC39316C-2B96-48FB-A1B5-B678450C457D}" presName="parentText" presStyleLbl="node1" presStyleIdx="2" presStyleCnt="4" custScaleY="129325">
        <dgm:presLayoutVars>
          <dgm:chMax val="0"/>
          <dgm:bulletEnabled val="1"/>
        </dgm:presLayoutVars>
      </dgm:prSet>
      <dgm:spPr/>
    </dgm:pt>
    <dgm:pt modelId="{75FF8C54-6ED0-4172-AECA-A3347EA5D0CA}" type="pres">
      <dgm:prSet presAssocID="{4477CF37-B0ED-4E6A-A6C7-101240E81D2C}" presName="spacer" presStyleCnt="0"/>
      <dgm:spPr/>
    </dgm:pt>
    <dgm:pt modelId="{C18ECB38-1219-4B32-95EB-5B837C0709D0}" type="pres">
      <dgm:prSet presAssocID="{C6C61D15-DD0A-4C4D-A094-1C1DB02E3B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31FF05-3A71-4628-BFF6-949193ED4564}" type="presOf" srcId="{77C5C33C-C7F4-4FB3-9A2B-D2F01855C868}" destId="{33E5FE70-2F67-4B1F-A47C-6DCACBAFDCA1}" srcOrd="0" destOrd="0" presId="urn:microsoft.com/office/officeart/2005/8/layout/vList2"/>
    <dgm:cxn modelId="{4646561B-EB05-480E-B3D0-2C97BD4435FD}" type="presOf" srcId="{AC39316C-2B96-48FB-A1B5-B678450C457D}" destId="{D5CC5745-A51D-4D89-8F30-6603F05FB8CA}" srcOrd="0" destOrd="0" presId="urn:microsoft.com/office/officeart/2005/8/layout/vList2"/>
    <dgm:cxn modelId="{ADD90334-791E-4155-8E46-FC1A9CD80CA2}" srcId="{105A837B-B565-4B9C-A575-3DEA6C0F194B}" destId="{AC39316C-2B96-48FB-A1B5-B678450C457D}" srcOrd="2" destOrd="0" parTransId="{7CF7C42F-5168-43C9-8F08-C258447B0229}" sibTransId="{4477CF37-B0ED-4E6A-A6C7-101240E81D2C}"/>
    <dgm:cxn modelId="{7154544B-E7CE-45C6-98B2-D1788AC23648}" srcId="{105A837B-B565-4B9C-A575-3DEA6C0F194B}" destId="{85D96BF5-3E23-423E-AAA3-B945FB92DBD0}" srcOrd="0" destOrd="0" parTransId="{56D6B5DF-41B3-4B40-BE43-B5AE9C2AA61C}" sibTransId="{E8464A8E-E3F4-43B3-9078-3B9ABE96DE0C}"/>
    <dgm:cxn modelId="{C29FC64E-2132-4862-9FBF-FA0856D253CB}" srcId="{105A837B-B565-4B9C-A575-3DEA6C0F194B}" destId="{77C5C33C-C7F4-4FB3-9A2B-D2F01855C868}" srcOrd="1" destOrd="0" parTransId="{7FDA7A39-5D39-437D-848D-7619D2ABDA5A}" sibTransId="{44896409-F185-481B-A6BE-DF38F25EF703}"/>
    <dgm:cxn modelId="{AD24244F-3493-4136-AE17-B1F5C7D5D3F5}" type="presOf" srcId="{85D96BF5-3E23-423E-AAA3-B945FB92DBD0}" destId="{95438FC0-52E0-4E74-993D-418E741D5A81}" srcOrd="0" destOrd="0" presId="urn:microsoft.com/office/officeart/2005/8/layout/vList2"/>
    <dgm:cxn modelId="{5BD299D0-EC0C-4AE4-95E0-E2690A78499A}" srcId="{105A837B-B565-4B9C-A575-3DEA6C0F194B}" destId="{C6C61D15-DD0A-4C4D-A094-1C1DB02E3BE0}" srcOrd="3" destOrd="0" parTransId="{2AC5FEC9-B091-40F7-9C8C-4A6AA3515C6A}" sibTransId="{61D9ED48-9C57-40AA-A1DA-E32BE2552E2B}"/>
    <dgm:cxn modelId="{80DE7DD5-B476-4449-95DC-D6F229F62B29}" type="presOf" srcId="{C6C61D15-DD0A-4C4D-A094-1C1DB02E3BE0}" destId="{C18ECB38-1219-4B32-95EB-5B837C0709D0}" srcOrd="0" destOrd="0" presId="urn:microsoft.com/office/officeart/2005/8/layout/vList2"/>
    <dgm:cxn modelId="{08E6D8FE-515E-463D-8F00-5D053F0E31B8}" type="presOf" srcId="{105A837B-B565-4B9C-A575-3DEA6C0F194B}" destId="{1E400241-A1D5-4564-8063-63D144A99F27}" srcOrd="0" destOrd="0" presId="urn:microsoft.com/office/officeart/2005/8/layout/vList2"/>
    <dgm:cxn modelId="{076AF5C1-92CF-4A5B-8A0D-DE39CC227CAE}" type="presParOf" srcId="{1E400241-A1D5-4564-8063-63D144A99F27}" destId="{95438FC0-52E0-4E74-993D-418E741D5A81}" srcOrd="0" destOrd="0" presId="urn:microsoft.com/office/officeart/2005/8/layout/vList2"/>
    <dgm:cxn modelId="{2A04630B-4DC2-4A64-9E87-07D7A121578D}" type="presParOf" srcId="{1E400241-A1D5-4564-8063-63D144A99F27}" destId="{4F7212D7-3161-44BC-B222-3D71C29238B9}" srcOrd="1" destOrd="0" presId="urn:microsoft.com/office/officeart/2005/8/layout/vList2"/>
    <dgm:cxn modelId="{206A413E-DFDF-4B7F-B4B7-ACA82F464CAC}" type="presParOf" srcId="{1E400241-A1D5-4564-8063-63D144A99F27}" destId="{33E5FE70-2F67-4B1F-A47C-6DCACBAFDCA1}" srcOrd="2" destOrd="0" presId="urn:microsoft.com/office/officeart/2005/8/layout/vList2"/>
    <dgm:cxn modelId="{C93C0EF1-8C80-42A6-AD3F-305D35EF12F3}" type="presParOf" srcId="{1E400241-A1D5-4564-8063-63D144A99F27}" destId="{CFA0F08E-CFA3-46E5-B925-0E6E49812B9D}" srcOrd="3" destOrd="0" presId="urn:microsoft.com/office/officeart/2005/8/layout/vList2"/>
    <dgm:cxn modelId="{E5B5F6F7-13F4-4081-BCC7-02DDE022C43F}" type="presParOf" srcId="{1E400241-A1D5-4564-8063-63D144A99F27}" destId="{D5CC5745-A51D-4D89-8F30-6603F05FB8CA}" srcOrd="4" destOrd="0" presId="urn:microsoft.com/office/officeart/2005/8/layout/vList2"/>
    <dgm:cxn modelId="{CF433097-CFA2-40DE-B60C-15BB1950264F}" type="presParOf" srcId="{1E400241-A1D5-4564-8063-63D144A99F27}" destId="{75FF8C54-6ED0-4172-AECA-A3347EA5D0CA}" srcOrd="5" destOrd="0" presId="urn:microsoft.com/office/officeart/2005/8/layout/vList2"/>
    <dgm:cxn modelId="{0BAC2F8C-3435-4C22-8920-BBA342971267}" type="presParOf" srcId="{1E400241-A1D5-4564-8063-63D144A99F27}" destId="{C18ECB38-1219-4B32-95EB-5B837C0709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38FC0-52E0-4E74-993D-418E741D5A81}">
      <dsp:nvSpPr>
        <dsp:cNvPr id="0" name=""/>
        <dsp:cNvSpPr/>
      </dsp:nvSpPr>
      <dsp:spPr>
        <a:xfrm>
          <a:off x="0" y="672148"/>
          <a:ext cx="10515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Case: casi di cancro mammario </a:t>
          </a:r>
          <a:endParaRPr lang="en-US" sz="2200" kern="1200" dirty="0"/>
        </a:p>
      </dsp:txBody>
      <dsp:txXfrm>
        <a:off x="25759" y="697907"/>
        <a:ext cx="10464082" cy="476152"/>
      </dsp:txXfrm>
    </dsp:sp>
    <dsp:sp modelId="{33E5FE70-2F67-4B1F-A47C-6DCACBAFDCA1}">
      <dsp:nvSpPr>
        <dsp:cNvPr id="0" name=""/>
        <dsp:cNvSpPr/>
      </dsp:nvSpPr>
      <dsp:spPr>
        <a:xfrm>
          <a:off x="0" y="1263178"/>
          <a:ext cx="10515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Popu</a:t>
          </a:r>
          <a:r>
            <a:rPr lang="it-IT" sz="2200" kern="1200" dirty="0"/>
            <a:t>: popolazione a rischio</a:t>
          </a:r>
          <a:endParaRPr lang="en-US" sz="2200" kern="1200" dirty="0"/>
        </a:p>
      </dsp:txBody>
      <dsp:txXfrm>
        <a:off x="25759" y="1288937"/>
        <a:ext cx="10464082" cy="476152"/>
      </dsp:txXfrm>
    </dsp:sp>
    <dsp:sp modelId="{D5CC5745-A51D-4D89-8F30-6603F05FB8CA}">
      <dsp:nvSpPr>
        <dsp:cNvPr id="0" name=""/>
        <dsp:cNvSpPr/>
      </dsp:nvSpPr>
      <dsp:spPr>
        <a:xfrm>
          <a:off x="0" y="1854208"/>
          <a:ext cx="10515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Area: area geografica (0 = area A; 1 = area B)</a:t>
          </a:r>
          <a:endParaRPr lang="en-US" sz="2200" kern="1200"/>
        </a:p>
      </dsp:txBody>
      <dsp:txXfrm>
        <a:off x="25759" y="1879967"/>
        <a:ext cx="10464082" cy="476152"/>
      </dsp:txXfrm>
    </dsp:sp>
    <dsp:sp modelId="{C18ECB38-1219-4B32-95EB-5B837C0709D0}">
      <dsp:nvSpPr>
        <dsp:cNvPr id="0" name=""/>
        <dsp:cNvSpPr/>
      </dsp:nvSpPr>
      <dsp:spPr>
        <a:xfrm>
          <a:off x="0" y="2445238"/>
          <a:ext cx="10515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Aged</a:t>
          </a:r>
          <a:r>
            <a:rPr lang="it-IT" sz="2200" kern="1200" dirty="0"/>
            <a:t>: classe di età (1 = 21 – 30; 2 = 31 – 40; 3 = 41 – 50; 4 = 51 – 60; 5 = 61 - 70)</a:t>
          </a:r>
          <a:endParaRPr lang="en-US" sz="2200" kern="1200" dirty="0"/>
        </a:p>
      </dsp:txBody>
      <dsp:txXfrm>
        <a:off x="25759" y="2470997"/>
        <a:ext cx="10464082" cy="476152"/>
      </dsp:txXfrm>
    </dsp:sp>
    <dsp:sp modelId="{1101B579-63D0-4E3D-A9E0-BD5E4B8850CA}">
      <dsp:nvSpPr>
        <dsp:cNvPr id="0" name=""/>
        <dsp:cNvSpPr/>
      </dsp:nvSpPr>
      <dsp:spPr>
        <a:xfrm>
          <a:off x="0" y="3036268"/>
          <a:ext cx="10515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Year: anno di calendario (dal 1995 al 2006)</a:t>
          </a:r>
          <a:endParaRPr lang="en-US" sz="2200" kern="1200"/>
        </a:p>
      </dsp:txBody>
      <dsp:txXfrm>
        <a:off x="25759" y="3062027"/>
        <a:ext cx="10464082" cy="47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38FC0-52E0-4E74-993D-418E741D5A81}">
      <dsp:nvSpPr>
        <dsp:cNvPr id="0" name=""/>
        <dsp:cNvSpPr/>
      </dsp:nvSpPr>
      <dsp:spPr>
        <a:xfrm>
          <a:off x="0" y="346270"/>
          <a:ext cx="10515600" cy="5498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Tasso: casi di cancro mammario sulla popolazione a rischio, per 100000</a:t>
          </a:r>
          <a:endParaRPr lang="en-US" sz="2200" kern="1200" dirty="0"/>
        </a:p>
      </dsp:txBody>
      <dsp:txXfrm>
        <a:off x="26840" y="373110"/>
        <a:ext cx="10461920" cy="496149"/>
      </dsp:txXfrm>
    </dsp:sp>
    <dsp:sp modelId="{33E5FE70-2F67-4B1F-A47C-6DCACBAFDCA1}">
      <dsp:nvSpPr>
        <dsp:cNvPr id="0" name=""/>
        <dsp:cNvSpPr/>
      </dsp:nvSpPr>
      <dsp:spPr>
        <a:xfrm>
          <a:off x="0" y="907842"/>
          <a:ext cx="10515600" cy="5498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Log_tasso</a:t>
          </a:r>
          <a:r>
            <a:rPr lang="it-IT" sz="2200" kern="1200" dirty="0"/>
            <a:t>: logaritmo del tasso</a:t>
          </a:r>
          <a:endParaRPr lang="en-US" sz="2200" kern="1200" dirty="0"/>
        </a:p>
      </dsp:txBody>
      <dsp:txXfrm>
        <a:off x="26840" y="934682"/>
        <a:ext cx="10461920" cy="496149"/>
      </dsp:txXfrm>
    </dsp:sp>
    <dsp:sp modelId="{D5CC5745-A51D-4D89-8F30-6603F05FB8CA}">
      <dsp:nvSpPr>
        <dsp:cNvPr id="0" name=""/>
        <dsp:cNvSpPr/>
      </dsp:nvSpPr>
      <dsp:spPr>
        <a:xfrm>
          <a:off x="0" y="1469414"/>
          <a:ext cx="10515600" cy="7110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Age: età numerica (25 per 21 – 30; 35 per 31 – 40; 45 per 41 – 50; 55 per 51 – 60; 65 per 61 - 70)</a:t>
          </a:r>
          <a:endParaRPr lang="en-US" sz="2200" kern="1200" dirty="0"/>
        </a:p>
      </dsp:txBody>
      <dsp:txXfrm>
        <a:off x="34711" y="1504125"/>
        <a:ext cx="10446178" cy="641645"/>
      </dsp:txXfrm>
    </dsp:sp>
    <dsp:sp modelId="{C18ECB38-1219-4B32-95EB-5B837C0709D0}">
      <dsp:nvSpPr>
        <dsp:cNvPr id="0" name=""/>
        <dsp:cNvSpPr/>
      </dsp:nvSpPr>
      <dsp:spPr>
        <a:xfrm>
          <a:off x="0" y="2192223"/>
          <a:ext cx="10515600" cy="5498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Age2:</a:t>
          </a:r>
          <a:r>
            <a:rPr lang="en-US" sz="2200" kern="1200" baseline="0" dirty="0"/>
            <a:t> </a:t>
          </a:r>
          <a:r>
            <a:rPr lang="en-US" sz="2200" kern="1200" baseline="0" dirty="0" err="1"/>
            <a:t>età</a:t>
          </a:r>
          <a:r>
            <a:rPr lang="en-US" sz="2200" kern="1200" baseline="0" dirty="0"/>
            <a:t> </a:t>
          </a:r>
          <a:r>
            <a:rPr lang="en-US" sz="2200" kern="1200" baseline="0" dirty="0" err="1"/>
            <a:t>numerica</a:t>
          </a:r>
          <a:r>
            <a:rPr lang="en-US" sz="2200" kern="1200" baseline="0" dirty="0"/>
            <a:t> al </a:t>
          </a:r>
          <a:r>
            <a:rPr lang="en-US" sz="2200" kern="1200" baseline="0" dirty="0" err="1"/>
            <a:t>quadrato</a:t>
          </a:r>
          <a:endParaRPr lang="en-US" sz="2200" kern="1200" dirty="0"/>
        </a:p>
      </dsp:txBody>
      <dsp:txXfrm>
        <a:off x="26840" y="2219063"/>
        <a:ext cx="10461920" cy="496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A9C1A-55E5-4E31-B298-97FF04B475F4}" type="datetimeFigureOut">
              <a:rPr lang="it-IT" smtClean="0"/>
              <a:t>18/05/2023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FB8C8-9666-4091-ACE9-1ACA3DA8EF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32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509D-0216-4A04-BAEA-BB3238A5641E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9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F5F1A-C1F0-46C5-9C16-1619477D0486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6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FBDD-D6D2-4421-A6E1-8F757282C259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9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B7E8-9DA2-4AF8-AFC1-1DB292250895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145-7E72-4102-BECF-DEFB22A1B506}" type="datetime1">
              <a:rPr lang="en-US" smtClean="0"/>
              <a:t>5/18/2023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0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4FF2D-36BC-4DCF-8523-E78C657D06FF}" type="datetime1">
              <a:rPr lang="en-US" smtClean="0"/>
              <a:t>5/18/2023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7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CCDB-BDD5-4F49-9C02-C0F5AAF56440}" type="datetime1">
              <a:rPr lang="en-US" smtClean="0"/>
              <a:t>5/18/2023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9BE5B-FFCF-43A9-8884-B35E4A31D21F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9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1C1D4-C7B8-4647-B417-6C96D2ABB744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2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DCF62-906C-487C-B16E-FE3459BD790C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4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DA3D2-FB34-4FCE-99D3-328A545B61EA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2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4AC1-B97B-422E-90D6-7974ADCFA751}" type="datetime1">
              <a:rPr lang="en-US" smtClean="0"/>
              <a:t>5/18/2023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Metodi Statistici in Biomedicina, a.a. 2022/2023 Giovanni Giacomo Cerasoli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77DFBB2-1863-A097-0694-00E9D9273E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19DF2B7-69F3-EA8D-0AA4-57271DCDC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4322" y="316842"/>
            <a:ext cx="8620307" cy="36657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it-IT" sz="6100" dirty="0"/>
              <a:t>Relazione tra nuovi casi di cancro mammario (cm) ed altre variabili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FDAD197-8204-7E79-9D0E-275AAF141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4321" y="4331568"/>
            <a:ext cx="8620307" cy="1789042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Metodi Statistici in Biomedicina</a:t>
            </a:r>
          </a:p>
          <a:p>
            <a:pPr algn="ctr"/>
            <a:endParaRPr lang="it-IT" dirty="0"/>
          </a:p>
          <a:p>
            <a:pPr algn="ctr"/>
            <a:r>
              <a:rPr lang="it-IT" sz="2000" dirty="0"/>
              <a:t>Giovanni Giacomo Cerasoli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65E654-FD23-CB73-9CB9-8F98B50D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0FE570-B6A7-1D1D-C512-29DF4ABD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5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05BC4BB-8796-7382-EB69-A480622A4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AF3DDDB-114A-52BE-5D4F-21C7429B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variabili di partenza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F05D4124-050C-46AB-B3CC-A7ECECEA2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457076"/>
              </p:ext>
            </p:extLst>
          </p:nvPr>
        </p:nvGraphicFramePr>
        <p:xfrm>
          <a:off x="838200" y="1940875"/>
          <a:ext cx="10515600" cy="4236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713E23D-2594-B79D-A939-9107D36A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B9D06D5-C5E0-1387-24D2-46101B42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05BC4BB-8796-7382-EB69-A480622A4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AF3DDDB-114A-52BE-5D4F-21C7429B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variabili create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F05D4124-050C-46AB-B3CC-A7ECECEA2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21494"/>
              </p:ext>
            </p:extLst>
          </p:nvPr>
        </p:nvGraphicFramePr>
        <p:xfrm>
          <a:off x="838200" y="2398076"/>
          <a:ext cx="10515600" cy="308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21B74BD5-02B5-C9F6-07E3-5417EF6F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EA29C7B2-D787-5507-F16C-E235204B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1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5DBF6A7-B7B1-D0B8-753D-8F7E3FEBA4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F8C283D-CD73-33A1-7F47-31F5C839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96645"/>
            <a:ext cx="10515600" cy="968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 err="1"/>
              <a:t>Variabile</a:t>
            </a:r>
            <a:r>
              <a:rPr lang="en-US" sz="4900" dirty="0"/>
              <a:t> </a:t>
            </a:r>
            <a:r>
              <a:rPr lang="en-US" sz="4900" dirty="0" err="1"/>
              <a:t>tasso</a:t>
            </a:r>
            <a:endParaRPr lang="en-US" sz="4900" dirty="0"/>
          </a:p>
        </p:txBody>
      </p:sp>
      <p:graphicFrame>
        <p:nvGraphicFramePr>
          <p:cNvPr id="9" name="Tabella 6">
            <a:extLst>
              <a:ext uri="{FF2B5EF4-FFF2-40B4-BE49-F238E27FC236}">
                <a16:creationId xmlns:a16="http://schemas.microsoft.com/office/drawing/2014/main" id="{CDA41B46-7042-7EF5-8C20-BE3C7F5BF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15215"/>
              </p:ext>
            </p:extLst>
          </p:nvPr>
        </p:nvGraphicFramePr>
        <p:xfrm>
          <a:off x="838201" y="2998610"/>
          <a:ext cx="4064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60548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92438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4239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Dev </a:t>
                      </a:r>
                      <a:r>
                        <a:rPr lang="it-IT" dirty="0" err="1"/>
                        <a:t>std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5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39,07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40,94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23,19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3260"/>
                  </a:ext>
                </a:extLst>
              </a:tr>
            </a:tbl>
          </a:graphicData>
        </a:graphic>
      </p:graphicFrame>
      <p:sp>
        <p:nvSpPr>
          <p:cNvPr id="5" name="Segnaposto piè di pagina 3">
            <a:extLst>
              <a:ext uri="{FF2B5EF4-FFF2-40B4-BE49-F238E27FC236}">
                <a16:creationId xmlns:a16="http://schemas.microsoft.com/office/drawing/2014/main" id="{5A84391B-02E8-827E-EEF2-D00E9780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35024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2684DF-67B5-05D0-6B14-D1647A77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Istogramma per tasso">
            <a:extLst>
              <a:ext uri="{FF2B5EF4-FFF2-40B4-BE49-F238E27FC236}">
                <a16:creationId xmlns:a16="http://schemas.microsoft.com/office/drawing/2014/main" id="{024CE01A-CE71-0DE1-AB4E-0E21D794A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45429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67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5DBF6A7-B7B1-D0B8-753D-8F7E3FEBA4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F8C283D-CD73-33A1-7F47-31F5C839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96645"/>
            <a:ext cx="10515600" cy="968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/>
              <a:t>Tasso di </a:t>
            </a:r>
            <a:r>
              <a:rPr lang="en-US" sz="4900" dirty="0" err="1"/>
              <a:t>cancro</a:t>
            </a:r>
            <a:r>
              <a:rPr lang="en-US" sz="4900" dirty="0"/>
              <a:t> </a:t>
            </a:r>
            <a:r>
              <a:rPr lang="en-US" sz="4900" dirty="0" err="1"/>
              <a:t>mammario</a:t>
            </a:r>
            <a:r>
              <a:rPr lang="en-US" sz="4900" dirty="0"/>
              <a:t> - </a:t>
            </a:r>
            <a:r>
              <a:rPr lang="en-US" sz="4900" dirty="0" err="1"/>
              <a:t>età</a:t>
            </a:r>
            <a:endParaRPr lang="en-US" sz="4900" dirty="0"/>
          </a:p>
        </p:txBody>
      </p:sp>
      <p:graphicFrame>
        <p:nvGraphicFramePr>
          <p:cNvPr id="9" name="Tabella 6">
            <a:extLst>
              <a:ext uri="{FF2B5EF4-FFF2-40B4-BE49-F238E27FC236}">
                <a16:creationId xmlns:a16="http://schemas.microsoft.com/office/drawing/2014/main" id="{CDA41B46-7042-7EF5-8C20-BE3C7F5BF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3134"/>
              </p:ext>
            </p:extLst>
          </p:nvPr>
        </p:nvGraphicFramePr>
        <p:xfrm>
          <a:off x="157275" y="2998610"/>
          <a:ext cx="54186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58696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0548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92438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4239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Aged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Dev </a:t>
                      </a:r>
                      <a:r>
                        <a:rPr lang="it-IT" dirty="0" err="1"/>
                        <a:t>std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5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 (21-30)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 (31-40)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6.41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5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 (41-50)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23.03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23.19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462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 (51-60)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54.46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8.09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53.47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31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5 (61-70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110.62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9.69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109.43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316276"/>
                  </a:ext>
                </a:extLst>
              </a:tr>
            </a:tbl>
          </a:graphicData>
        </a:graphic>
      </p:graphicFrame>
      <p:sp>
        <p:nvSpPr>
          <p:cNvPr id="5" name="Segnaposto piè di pagina 3">
            <a:extLst>
              <a:ext uri="{FF2B5EF4-FFF2-40B4-BE49-F238E27FC236}">
                <a16:creationId xmlns:a16="http://schemas.microsoft.com/office/drawing/2014/main" id="{5A84391B-02E8-827E-EEF2-D00E9780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35024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2684DF-67B5-05D0-6B14-D1647A77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 descr="Box plot per tasso">
            <a:extLst>
              <a:ext uri="{FF2B5EF4-FFF2-40B4-BE49-F238E27FC236}">
                <a16:creationId xmlns:a16="http://schemas.microsoft.com/office/drawing/2014/main" id="{97F00345-774B-FC91-F974-852FA8458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971" y="171429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9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2A72C0D-6A2C-2603-FDAF-0A313E1562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F8C283D-CD73-33A1-7F47-31F5C839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0870"/>
            <a:ext cx="10515600" cy="96892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Tasso di </a:t>
            </a:r>
            <a:r>
              <a:rPr lang="en-US" dirty="0" err="1"/>
              <a:t>cancro</a:t>
            </a:r>
            <a:r>
              <a:rPr lang="en-US" dirty="0"/>
              <a:t> </a:t>
            </a:r>
            <a:r>
              <a:rPr lang="en-US" dirty="0" err="1"/>
              <a:t>mammario</a:t>
            </a:r>
            <a:r>
              <a:rPr lang="en-US" dirty="0"/>
              <a:t> - anno</a:t>
            </a:r>
          </a:p>
        </p:txBody>
      </p:sp>
      <p:graphicFrame>
        <p:nvGraphicFramePr>
          <p:cNvPr id="9" name="Tabella 6">
            <a:extLst>
              <a:ext uri="{FF2B5EF4-FFF2-40B4-BE49-F238E27FC236}">
                <a16:creationId xmlns:a16="http://schemas.microsoft.com/office/drawing/2014/main" id="{CDA41B46-7042-7EF5-8C20-BE3C7F5BF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155451"/>
              </p:ext>
            </p:extLst>
          </p:nvPr>
        </p:nvGraphicFramePr>
        <p:xfrm>
          <a:off x="242455" y="1143000"/>
          <a:ext cx="5418668" cy="481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58696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0548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92438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4239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Year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Dev </a:t>
                      </a:r>
                      <a:r>
                        <a:rPr lang="it-IT" dirty="0" err="1"/>
                        <a:t>std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5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37.30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41.69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19.28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8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36.82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38.21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4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42.62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22.66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981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39.53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42.29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39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41.01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46.28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22.34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7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39.87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45.38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22.57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80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38.11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42.55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20.71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3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36.36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41.50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99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39.45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42.11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23.14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28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42.04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45.85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390865"/>
                  </a:ext>
                </a:extLst>
              </a:tr>
              <a:tr h="22465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40.15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43.79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21.84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20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40.09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42.37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27.48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28772"/>
                  </a:ext>
                </a:extLst>
              </a:tr>
            </a:tbl>
          </a:graphicData>
        </a:graphic>
      </p:graphicFrame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8C062ABC-2559-A182-FB6F-13F47265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CA1DA6-22D7-2AB2-27C0-8F27462F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6</a:t>
            </a:fld>
            <a:endParaRPr lang="en-US"/>
          </a:p>
        </p:txBody>
      </p:sp>
      <p:pic>
        <p:nvPicPr>
          <p:cNvPr id="4098" name="Picture 2" descr="Box plot per tasso">
            <a:extLst>
              <a:ext uri="{FF2B5EF4-FFF2-40B4-BE49-F238E27FC236}">
                <a16:creationId xmlns:a16="http://schemas.microsoft.com/office/drawing/2014/main" id="{96E9D8B7-C013-F2C4-0DA9-D6149452F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45" y="126619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5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9F63AA5A-E6E1-46DA-AB40-C58233393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7DFF46D-E0F1-D726-720E-D87571ADC4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F8C283D-CD73-33A1-7F47-31F5C839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96645"/>
            <a:ext cx="10515600" cy="96892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Tasso di </a:t>
            </a:r>
            <a:r>
              <a:rPr lang="en-US" dirty="0" err="1"/>
              <a:t>cancro</a:t>
            </a:r>
            <a:r>
              <a:rPr lang="en-US" dirty="0"/>
              <a:t> </a:t>
            </a:r>
            <a:r>
              <a:rPr lang="en-US" dirty="0" err="1"/>
              <a:t>mammario</a:t>
            </a:r>
            <a:r>
              <a:rPr lang="en-US" dirty="0"/>
              <a:t> - area</a:t>
            </a:r>
          </a:p>
        </p:txBody>
      </p:sp>
      <p:graphicFrame>
        <p:nvGraphicFramePr>
          <p:cNvPr id="9" name="Tabella 6">
            <a:extLst>
              <a:ext uri="{FF2B5EF4-FFF2-40B4-BE49-F238E27FC236}">
                <a16:creationId xmlns:a16="http://schemas.microsoft.com/office/drawing/2014/main" id="{CDA41B46-7042-7EF5-8C20-BE3C7F5BF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41265"/>
              </p:ext>
            </p:extLst>
          </p:nvPr>
        </p:nvGraphicFramePr>
        <p:xfrm>
          <a:off x="171130" y="2998610"/>
          <a:ext cx="54186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58696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0548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92438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4239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Dev </a:t>
                      </a:r>
                      <a:r>
                        <a:rPr lang="it-IT" dirty="0" err="1"/>
                        <a:t>std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51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42.32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43.36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25.69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06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35.83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38.46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kern="1200" dirty="0">
                          <a:solidFill>
                            <a:schemeClr val="dk1"/>
                          </a:solidFill>
                          <a:effectLst/>
                        </a:rPr>
                        <a:t>19.98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251053"/>
                  </a:ext>
                </a:extLst>
              </a:tr>
            </a:tbl>
          </a:graphicData>
        </a:graphic>
      </p:graphicFrame>
      <p:sp>
        <p:nvSpPr>
          <p:cNvPr id="5" name="Segnaposto piè di pagina 3">
            <a:extLst>
              <a:ext uri="{FF2B5EF4-FFF2-40B4-BE49-F238E27FC236}">
                <a16:creationId xmlns:a16="http://schemas.microsoft.com/office/drawing/2014/main" id="{180BA762-0A30-918F-F3E8-4A4D063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AE56B5-2E7E-D4B3-123D-BAF08D00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Box plot per tasso">
            <a:extLst>
              <a:ext uri="{FF2B5EF4-FFF2-40B4-BE49-F238E27FC236}">
                <a16:creationId xmlns:a16="http://schemas.microsoft.com/office/drawing/2014/main" id="{65C18B88-1CE0-BB6C-D9B3-D91FF741D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898" y="1674957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224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>
            <a:extLst>
              <a:ext uri="{FF2B5EF4-FFF2-40B4-BE49-F238E27FC236}">
                <a16:creationId xmlns:a16="http://schemas.microsoft.com/office/drawing/2014/main" id="{CD75A63C-B9C7-3A08-D82A-59BFB0B14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51C385B-D18E-97B2-CA4B-1C8657A7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5" y="42049"/>
            <a:ext cx="11970327" cy="90590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 err="1"/>
              <a:t>Andamento</a:t>
            </a:r>
            <a:r>
              <a:rPr lang="en-US" sz="4000" dirty="0"/>
              <a:t> </a:t>
            </a:r>
            <a:r>
              <a:rPr lang="en-US" sz="4000" dirty="0" err="1"/>
              <a:t>tasso</a:t>
            </a:r>
            <a:r>
              <a:rPr lang="en-US" sz="4000" dirty="0"/>
              <a:t> di CM </a:t>
            </a:r>
            <a:r>
              <a:rPr lang="en-US" sz="4000" dirty="0" err="1"/>
              <a:t>nelle</a:t>
            </a:r>
            <a:r>
              <a:rPr lang="en-US" sz="4000" dirty="0"/>
              <a:t> due </a:t>
            </a:r>
            <a:r>
              <a:rPr lang="en-US" sz="4000" dirty="0" err="1"/>
              <a:t>aree</a:t>
            </a:r>
            <a:r>
              <a:rPr lang="en-US" sz="4000" dirty="0"/>
              <a:t> per anno</a:t>
            </a:r>
          </a:p>
        </p:txBody>
      </p:sp>
      <p:sp>
        <p:nvSpPr>
          <p:cNvPr id="17" name="Segnaposto piè di pagina 3">
            <a:extLst>
              <a:ext uri="{FF2B5EF4-FFF2-40B4-BE49-F238E27FC236}">
                <a16:creationId xmlns:a16="http://schemas.microsoft.com/office/drawing/2014/main" id="{B0AC919D-71DA-91E6-E82A-E1F65CAB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463E2DF7-7343-E7B8-E04E-C5D0571F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8</a:t>
            </a:fld>
            <a:endParaRPr lang="en-US"/>
          </a:p>
        </p:txBody>
      </p:sp>
      <p:pic>
        <p:nvPicPr>
          <p:cNvPr id="6146" name="Picture 2" descr="La procedura SGPlot">
            <a:extLst>
              <a:ext uri="{FF2B5EF4-FFF2-40B4-BE49-F238E27FC236}">
                <a16:creationId xmlns:a16="http://schemas.microsoft.com/office/drawing/2014/main" id="{06D7DE95-C76F-670E-3CA5-E2394018E79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549" y="947958"/>
            <a:ext cx="7166901" cy="537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29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>
            <a:extLst>
              <a:ext uri="{FF2B5EF4-FFF2-40B4-BE49-F238E27FC236}">
                <a16:creationId xmlns:a16="http://schemas.microsoft.com/office/drawing/2014/main" id="{CD75A63C-B9C7-3A08-D82A-59BFB0B144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-14068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51C385B-D18E-97B2-CA4B-1C8657A7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70" y="0"/>
            <a:ext cx="11709258" cy="103909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 err="1"/>
              <a:t>Andamento</a:t>
            </a:r>
            <a:r>
              <a:rPr lang="en-US" sz="4000" dirty="0"/>
              <a:t> </a:t>
            </a:r>
            <a:r>
              <a:rPr lang="en-US" sz="4000" dirty="0" err="1"/>
              <a:t>tasso</a:t>
            </a:r>
            <a:r>
              <a:rPr lang="en-US" sz="4000" dirty="0"/>
              <a:t> di CM </a:t>
            </a:r>
            <a:r>
              <a:rPr lang="en-US" sz="4000" dirty="0" err="1"/>
              <a:t>nelle</a:t>
            </a:r>
            <a:r>
              <a:rPr lang="en-US" sz="4000" dirty="0"/>
              <a:t> due </a:t>
            </a:r>
            <a:r>
              <a:rPr lang="en-US" sz="4000" dirty="0" err="1"/>
              <a:t>aree</a:t>
            </a:r>
            <a:r>
              <a:rPr lang="en-US" sz="4000" dirty="0"/>
              <a:t> per </a:t>
            </a:r>
            <a:r>
              <a:rPr lang="en-US" sz="4000" dirty="0" err="1"/>
              <a:t>età</a:t>
            </a:r>
            <a:endParaRPr lang="en-US" sz="4000" dirty="0"/>
          </a:p>
        </p:txBody>
      </p:sp>
      <p:sp>
        <p:nvSpPr>
          <p:cNvPr id="5" name="Segnaposto piè di pagina 3">
            <a:extLst>
              <a:ext uri="{FF2B5EF4-FFF2-40B4-BE49-F238E27FC236}">
                <a16:creationId xmlns:a16="http://schemas.microsoft.com/office/drawing/2014/main" id="{28325C13-EC86-9C81-8966-F0BD8265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11E5EF-4149-C96C-F219-99994859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9</a:t>
            </a:fld>
            <a:endParaRPr lang="en-US"/>
          </a:p>
        </p:txBody>
      </p:sp>
      <p:pic>
        <p:nvPicPr>
          <p:cNvPr id="2052" name="Picture 4" descr="La procedura SGPlot">
            <a:extLst>
              <a:ext uri="{FF2B5EF4-FFF2-40B4-BE49-F238E27FC236}">
                <a16:creationId xmlns:a16="http://schemas.microsoft.com/office/drawing/2014/main" id="{1AEC9797-7C86-F214-4DD0-AE9F2CAC1037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833" y="902643"/>
            <a:ext cx="7108332" cy="533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70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EC0B-A2CF-8C59-595D-F0EC6B494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892115"/>
          </a:xfrm>
        </p:spPr>
        <p:txBody>
          <a:bodyPr>
            <a:normAutofit fontScale="90000"/>
          </a:bodyPr>
          <a:lstStyle/>
          <a:p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area e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</a:t>
            </a:r>
            <a:endParaRPr lang="it-IT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988366"/>
              </p:ext>
            </p:extLst>
          </p:nvPr>
        </p:nvGraphicFramePr>
        <p:xfrm>
          <a:off x="838200" y="2506095"/>
          <a:ext cx="10515599" cy="184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548980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2279139">
                  <a:extLst>
                    <a:ext uri="{9D8B030D-6E8A-4147-A177-3AD203B41FA5}">
                      <a16:colId xmlns:a16="http://schemas.microsoft.com/office/drawing/2014/main" val="1365967096"/>
                    </a:ext>
                  </a:extLst>
                </a:gridCol>
                <a:gridCol w="1226060">
                  <a:extLst>
                    <a:ext uri="{9D8B030D-6E8A-4147-A177-3AD203B41FA5}">
                      <a16:colId xmlns:a16="http://schemas.microsoft.com/office/drawing/2014/main" val="28636673"/>
                    </a:ext>
                  </a:extLst>
                </a:gridCol>
              </a:tblGrid>
              <a:tr h="626415"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Parametro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/>
                        <a:t>Stima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Errore standard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LC 95%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P-value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47421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Intercetta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-11,6237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0,1439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-11,9057 | -11,3417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&lt;,0001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Area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0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0,1686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0,0190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0,1314 | 0,2058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&lt;,0001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Area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1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0,000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0,000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/>
                        <a:t>0,000 | 0,000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199" y="1028640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con età ed anno come confondenti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8B966C8-2C67-26DC-B7FF-7D0704E0E44C}"/>
              </a:ext>
            </a:extLst>
          </p:cNvPr>
          <p:cNvSpPr txBox="1"/>
          <p:nvPr/>
        </p:nvSpPr>
        <p:spPr>
          <a:xfrm>
            <a:off x="2694708" y="4678847"/>
            <a:ext cx="6802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Tra l’area 0 e l’area 1 si trova una differenza nel tasso di cancro mammario del 18% circa; </a:t>
            </a:r>
          </a:p>
          <a:p>
            <a:pPr algn="ctr"/>
            <a:r>
              <a:rPr lang="it-IT" sz="2400" dirty="0"/>
              <a:t>(e</a:t>
            </a:r>
            <a:r>
              <a:rPr lang="it-IT" sz="2400" baseline="30000" dirty="0"/>
              <a:t>0,1686</a:t>
            </a:r>
            <a:r>
              <a:rPr lang="it-IT" sz="2400" dirty="0"/>
              <a:t> = 1,184)</a:t>
            </a: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FC6400AF-1EBC-2982-6EDE-EA1A40F4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A25F5-55D2-DE6D-2FCD-15037A00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10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7C7733-01E7-C23E-F0A5-B32B3023AA6C}"/>
              </a:ext>
            </a:extLst>
          </p:cNvPr>
          <p:cNvSpPr txBox="1"/>
          <p:nvPr/>
        </p:nvSpPr>
        <p:spPr>
          <a:xfrm>
            <a:off x="838199" y="1809821"/>
            <a:ext cx="35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Devianza / </a:t>
            </a:r>
            <a:r>
              <a:rPr lang="it-IT" dirty="0" err="1"/>
              <a:t>gdl</a:t>
            </a:r>
            <a:r>
              <a:rPr lang="it-IT" dirty="0"/>
              <a:t> = 0,9640</a:t>
            </a:r>
          </a:p>
        </p:txBody>
      </p:sp>
    </p:spTree>
    <p:extLst>
      <p:ext uri="{BB962C8B-B14F-4D97-AF65-F5344CB8AC3E}">
        <p14:creationId xmlns:p14="http://schemas.microsoft.com/office/powerpoint/2010/main" val="111729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EC0B-A2CF-8C59-595D-F0EC6B494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74857"/>
          </a:xfrm>
        </p:spPr>
        <p:txBody>
          <a:bodyPr>
            <a:normAutofit fontScale="90000"/>
          </a:bodyPr>
          <a:lstStyle/>
          <a:p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area e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</a:t>
            </a:r>
            <a:endParaRPr lang="it-IT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022495"/>
              </p:ext>
            </p:extLst>
          </p:nvPr>
        </p:nvGraphicFramePr>
        <p:xfrm>
          <a:off x="1271998" y="1761370"/>
          <a:ext cx="964800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0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254898067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072997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2626123">
                  <a:extLst>
                    <a:ext uri="{9D8B030D-6E8A-4147-A177-3AD203B41FA5}">
                      <a16:colId xmlns:a16="http://schemas.microsoft.com/office/drawing/2014/main" val="1365967096"/>
                    </a:ext>
                  </a:extLst>
                </a:gridCol>
                <a:gridCol w="1124880">
                  <a:extLst>
                    <a:ext uri="{9D8B030D-6E8A-4147-A177-3AD203B41FA5}">
                      <a16:colId xmlns:a16="http://schemas.microsoft.com/office/drawing/2014/main" val="28636673"/>
                    </a:ext>
                  </a:extLst>
                </a:gridCol>
              </a:tblGrid>
              <a:tr h="333287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Parametro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Stima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Errore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LC 95%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P-</a:t>
                      </a:r>
                      <a:r>
                        <a:rPr lang="it-IT" sz="1600" dirty="0" err="1"/>
                        <a:t>value</a:t>
                      </a:r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Intercetta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-11,6237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-11,9057 | -11,3417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Area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0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0,1314 | 0,2058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1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0,000 |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 (31-40)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1,8167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1,5221 | 2,1114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856903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3 (41-50)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3,1138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0,1427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2,8342 | 3,3934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75241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4 (51-60)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3,9726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3,6960 | 4,2492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07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 (61-70)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4,6956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0,1406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4,4201 | 4,9712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92232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 (21-30)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0,000 |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477950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995154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con età ed anno come confondenti</a:t>
            </a: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FC6400AF-1EBC-2982-6EDE-EA1A40F4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A25F5-55D2-DE6D-2FCD-15037A00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11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054ED64-1FA2-4A65-BF85-4AAE4948FDB8}"/>
              </a:ext>
            </a:extLst>
          </p:cNvPr>
          <p:cNvSpPr txBox="1"/>
          <p:nvPr/>
        </p:nvSpPr>
        <p:spPr>
          <a:xfrm>
            <a:off x="1340426" y="5341312"/>
            <a:ext cx="9511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Tasso per l’area 0 per fascia di età = e</a:t>
            </a:r>
            <a:r>
              <a:rPr lang="it-IT" sz="2000" baseline="30000" dirty="0"/>
              <a:t>-11,6237 + 0,1686 + stima </a:t>
            </a:r>
            <a:r>
              <a:rPr lang="it-IT" sz="2000" baseline="30000" dirty="0" err="1"/>
              <a:t>aged</a:t>
            </a:r>
            <a:r>
              <a:rPr lang="it-IT" sz="2000" baseline="30000" dirty="0"/>
              <a:t>  </a:t>
            </a:r>
            <a:r>
              <a:rPr lang="it-IT" sz="2000" dirty="0"/>
              <a:t>* 100000</a:t>
            </a:r>
          </a:p>
          <a:p>
            <a:pPr algn="ctr"/>
            <a:r>
              <a:rPr lang="it-IT" sz="2000" dirty="0"/>
              <a:t>Tasso per l’area 1 per fascia di età = e</a:t>
            </a:r>
            <a:r>
              <a:rPr lang="it-IT" sz="2000" baseline="30000" dirty="0"/>
              <a:t>-11,6237 + stima </a:t>
            </a:r>
            <a:r>
              <a:rPr lang="it-IT" sz="2000" baseline="30000" dirty="0" err="1"/>
              <a:t>aged</a:t>
            </a:r>
            <a:r>
              <a:rPr lang="it-IT" sz="2000" baseline="30000" dirty="0"/>
              <a:t>  </a:t>
            </a:r>
            <a:r>
              <a:rPr lang="it-IT" sz="2000" dirty="0"/>
              <a:t>* 100000</a:t>
            </a:r>
          </a:p>
        </p:txBody>
      </p:sp>
    </p:spTree>
    <p:extLst>
      <p:ext uri="{BB962C8B-B14F-4D97-AF65-F5344CB8AC3E}">
        <p14:creationId xmlns:p14="http://schemas.microsoft.com/office/powerpoint/2010/main" val="421279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EC0B-A2CF-8C59-595D-F0EC6B494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74857"/>
          </a:xfrm>
        </p:spPr>
        <p:txBody>
          <a:bodyPr>
            <a:normAutofit fontScale="90000"/>
          </a:bodyPr>
          <a:lstStyle/>
          <a:p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area e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</a:t>
            </a:r>
            <a:endParaRPr lang="it-IT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01574"/>
              </p:ext>
            </p:extLst>
          </p:nvPr>
        </p:nvGraphicFramePr>
        <p:xfrm>
          <a:off x="3683999" y="2026308"/>
          <a:ext cx="4824000" cy="3699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0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254898067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</a:tblGrid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 (21-30)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1,06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 (21-30)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 (31-40)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6,52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856903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 (31-40)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5,51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21975241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3 (41-50)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23,85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73507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3 (41-50)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20,15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76292232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4 (51-60)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56,28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477950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4 (51-60)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47,55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417326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 (61-70)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115,98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05714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 (61-70)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97,98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70626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995154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con età ed anno come confondenti</a:t>
            </a: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FC6400AF-1EBC-2982-6EDE-EA1A40F4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A25F5-55D2-DE6D-2FCD-15037A00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28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EC0B-A2CF-8C59-595D-F0EC6B494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74857"/>
          </a:xfrm>
        </p:spPr>
        <p:txBody>
          <a:bodyPr>
            <a:normAutofit fontScale="90000"/>
          </a:bodyPr>
          <a:lstStyle/>
          <a:p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area e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</a:t>
            </a:r>
            <a:endParaRPr lang="it-IT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79704"/>
              </p:ext>
            </p:extLst>
          </p:nvPr>
        </p:nvGraphicFramePr>
        <p:xfrm>
          <a:off x="1271998" y="2175867"/>
          <a:ext cx="964800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0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254898067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072997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2626123">
                  <a:extLst>
                    <a:ext uri="{9D8B030D-6E8A-4147-A177-3AD203B41FA5}">
                      <a16:colId xmlns:a16="http://schemas.microsoft.com/office/drawing/2014/main" val="1365967096"/>
                    </a:ext>
                  </a:extLst>
                </a:gridCol>
                <a:gridCol w="1124880">
                  <a:extLst>
                    <a:ext uri="{9D8B030D-6E8A-4147-A177-3AD203B41FA5}">
                      <a16:colId xmlns:a16="http://schemas.microsoft.com/office/drawing/2014/main" val="28636673"/>
                    </a:ext>
                  </a:extLst>
                </a:gridCol>
              </a:tblGrid>
              <a:tr h="333287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Parametro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Stima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Errore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LC 95%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P-</a:t>
                      </a:r>
                      <a:r>
                        <a:rPr lang="it-IT" sz="1600" dirty="0" err="1"/>
                        <a:t>value</a:t>
                      </a:r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Intercetta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-11,5854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-11,8604 | -11,3105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Area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0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0,1317 | 0,2060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1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0,000 |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 (31-40)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1,8158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0,1503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1,5211 | 2,1105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856903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3 (41-50)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3,1136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0,1427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2,8340 | 3,3932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75241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4 (51-60)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3,9738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3,6972 | 4,2504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07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 (61-70)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4,6973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0,1406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4,4218 | 4,9729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92232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Aged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 (21-30)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0,000 |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477950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995154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con età come confondente</a:t>
            </a: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FC6400AF-1EBC-2982-6EDE-EA1A40F4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A25F5-55D2-DE6D-2FCD-15037A00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13</a:t>
            </a:fld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C3F595-301D-5BA6-70A8-77503D7EE4DE}"/>
              </a:ext>
            </a:extLst>
          </p:cNvPr>
          <p:cNvSpPr txBox="1"/>
          <p:nvPr/>
        </p:nvSpPr>
        <p:spPr>
          <a:xfrm>
            <a:off x="2999507" y="5622914"/>
            <a:ext cx="6192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dirty="0"/>
              <a:t>Anche in questo caso la differenza nel tasso tra l’area 0 e l’area 1 è del 18% circa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BDCF2D-3A72-1041-189F-581953F9895E}"/>
              </a:ext>
            </a:extLst>
          </p:cNvPr>
          <p:cNvSpPr txBox="1"/>
          <p:nvPr/>
        </p:nvSpPr>
        <p:spPr>
          <a:xfrm>
            <a:off x="838200" y="1641914"/>
            <a:ext cx="35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Devianza / </a:t>
            </a:r>
            <a:r>
              <a:rPr lang="it-IT" dirty="0" err="1"/>
              <a:t>gdl</a:t>
            </a:r>
            <a:r>
              <a:rPr lang="it-IT" dirty="0"/>
              <a:t> = 1,0591</a:t>
            </a:r>
          </a:p>
        </p:txBody>
      </p:sp>
    </p:spTree>
    <p:extLst>
      <p:ext uri="{BB962C8B-B14F-4D97-AF65-F5344CB8AC3E}">
        <p14:creationId xmlns:p14="http://schemas.microsoft.com/office/powerpoint/2010/main" val="314766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68A9FC-B4E7-E64B-E777-60F8468B9B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9A5EA0E-D72E-2FC2-19C9-96D6C9E5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3108"/>
            <a:ext cx="3054926" cy="5311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 err="1"/>
              <a:t>Eventuale</a:t>
            </a:r>
            <a:r>
              <a:rPr lang="en-US" sz="4600" dirty="0"/>
              <a:t> </a:t>
            </a:r>
            <a:r>
              <a:rPr lang="en-US" sz="4600" dirty="0" err="1"/>
              <a:t>tendenza</a:t>
            </a:r>
            <a:r>
              <a:rPr lang="en-US" sz="4600" dirty="0"/>
              <a:t> non </a:t>
            </a:r>
            <a:r>
              <a:rPr lang="en-US" sz="4600" dirty="0" err="1"/>
              <a:t>lineare</a:t>
            </a:r>
            <a:r>
              <a:rPr lang="en-US" sz="4600" dirty="0"/>
              <a:t> </a:t>
            </a:r>
            <a:r>
              <a:rPr lang="en-US" sz="4600" dirty="0" err="1"/>
              <a:t>tra</a:t>
            </a:r>
            <a:r>
              <a:rPr lang="en-US" sz="4600" dirty="0"/>
              <a:t> </a:t>
            </a:r>
            <a:r>
              <a:rPr lang="en-US" sz="4600" dirty="0" err="1"/>
              <a:t>tasso</a:t>
            </a:r>
            <a:r>
              <a:rPr lang="en-US" sz="4600" dirty="0"/>
              <a:t> di CM per </a:t>
            </a:r>
            <a:r>
              <a:rPr lang="en-US" sz="4600" dirty="0" err="1"/>
              <a:t>età</a:t>
            </a:r>
            <a:endParaRPr lang="en-US" sz="4600" dirty="0"/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5EC64E8D-3064-DB9F-DE8B-9CEE6D6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F0522C-EB86-CD18-6E6D-1D6906C6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14</a:t>
            </a:fld>
            <a:endParaRPr lang="en-US"/>
          </a:p>
        </p:txBody>
      </p:sp>
      <p:pic>
        <p:nvPicPr>
          <p:cNvPr id="7170" name="Picture 2" descr="Riquadro dei diagrammi di stima per tasso quando il parametro di smoothing varia.">
            <a:extLst>
              <a:ext uri="{FF2B5EF4-FFF2-40B4-BE49-F238E27FC236}">
                <a16:creationId xmlns:a16="http://schemas.microsoft.com/office/drawing/2014/main" id="{A9052847-69B7-70F1-2524-1CBD6786D2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522" y="773108"/>
            <a:ext cx="7082376" cy="531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01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4">
            <a:extLst>
              <a:ext uri="{FF2B5EF4-FFF2-40B4-BE49-F238E27FC236}">
                <a16:creationId xmlns:a16="http://schemas.microsoft.com/office/drawing/2014/main" id="{7D8A8D11-DB51-43C0-8618-65C820DB4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8A9FC-B4E7-E64B-E777-60F8468B9B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9A5EA0E-D72E-2FC2-19C9-96D6C9E5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73108"/>
            <a:ext cx="3054926" cy="5311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 err="1"/>
              <a:t>Eventuale</a:t>
            </a:r>
            <a:r>
              <a:rPr lang="en-US" sz="4600" dirty="0"/>
              <a:t> </a:t>
            </a:r>
            <a:r>
              <a:rPr lang="en-US" sz="4600" dirty="0" err="1"/>
              <a:t>tendenza</a:t>
            </a:r>
            <a:r>
              <a:rPr lang="en-US" sz="4600" dirty="0"/>
              <a:t> non </a:t>
            </a:r>
            <a:r>
              <a:rPr lang="en-US" sz="4600" dirty="0" err="1"/>
              <a:t>lineare</a:t>
            </a:r>
            <a:r>
              <a:rPr lang="en-US" sz="4600" dirty="0"/>
              <a:t> </a:t>
            </a:r>
            <a:r>
              <a:rPr lang="en-US" sz="4600" dirty="0" err="1"/>
              <a:t>tra</a:t>
            </a:r>
            <a:r>
              <a:rPr lang="en-US" sz="4600" dirty="0"/>
              <a:t> log(</a:t>
            </a:r>
            <a:r>
              <a:rPr lang="en-US" sz="4600" dirty="0" err="1"/>
              <a:t>tasso</a:t>
            </a:r>
            <a:r>
              <a:rPr lang="en-US" sz="4600" dirty="0"/>
              <a:t>) di CM per </a:t>
            </a:r>
            <a:r>
              <a:rPr lang="en-US" sz="4600" dirty="0" err="1"/>
              <a:t>età</a:t>
            </a:r>
            <a:endParaRPr lang="en-US" sz="4600" dirty="0"/>
          </a:p>
        </p:txBody>
      </p:sp>
      <p:pic>
        <p:nvPicPr>
          <p:cNvPr id="2050" name="Picture 2" descr="Riquadro dei diagrammi di stima per log_tasso quando il parametro di smoothing varia.">
            <a:extLst>
              <a:ext uri="{FF2B5EF4-FFF2-40B4-BE49-F238E27FC236}">
                <a16:creationId xmlns:a16="http://schemas.microsoft.com/office/drawing/2014/main" id="{25EE40BB-8552-0C85-CE63-B73AAC1276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34180" y="797712"/>
            <a:ext cx="7016767" cy="52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5EC64E8D-3064-DB9F-DE8B-9CEE6D65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F0522C-EB86-CD18-6E6D-1D6906C6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64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641E7432-AF03-A5F1-8C55-07642497D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err="1"/>
              <a:t>Eventuale</a:t>
            </a:r>
            <a:r>
              <a:rPr lang="en-US" sz="4000" dirty="0"/>
              <a:t> </a:t>
            </a:r>
            <a:r>
              <a:rPr lang="en-US" sz="4000" dirty="0" err="1"/>
              <a:t>tendenza</a:t>
            </a:r>
            <a:r>
              <a:rPr lang="en-US" sz="4000" dirty="0"/>
              <a:t> non </a:t>
            </a:r>
            <a:r>
              <a:rPr lang="en-US" sz="4000" dirty="0" err="1"/>
              <a:t>lineare</a:t>
            </a:r>
            <a:r>
              <a:rPr lang="en-US" sz="4000" dirty="0"/>
              <a:t> </a:t>
            </a:r>
            <a:r>
              <a:rPr lang="en-US" sz="4000" dirty="0" err="1"/>
              <a:t>tra</a:t>
            </a:r>
            <a:r>
              <a:rPr lang="en-US" sz="4000" dirty="0"/>
              <a:t> </a:t>
            </a:r>
            <a:r>
              <a:rPr lang="en-US" sz="4000" dirty="0" err="1"/>
              <a:t>tasso</a:t>
            </a:r>
            <a:r>
              <a:rPr lang="en-US" sz="4000" dirty="0"/>
              <a:t> di CM per </a:t>
            </a:r>
            <a:r>
              <a:rPr lang="en-US" sz="4000" dirty="0" err="1"/>
              <a:t>età</a:t>
            </a:r>
            <a:endParaRPr lang="it-IT" sz="4000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528324"/>
              </p:ext>
            </p:extLst>
          </p:nvPr>
        </p:nvGraphicFramePr>
        <p:xfrm>
          <a:off x="1714499" y="3037161"/>
          <a:ext cx="8762999" cy="184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2279139">
                  <a:extLst>
                    <a:ext uri="{9D8B030D-6E8A-4147-A177-3AD203B41FA5}">
                      <a16:colId xmlns:a16="http://schemas.microsoft.com/office/drawing/2014/main" val="1365967096"/>
                    </a:ext>
                  </a:extLst>
                </a:gridCol>
                <a:gridCol w="1226060">
                  <a:extLst>
                    <a:ext uri="{9D8B030D-6E8A-4147-A177-3AD203B41FA5}">
                      <a16:colId xmlns:a16="http://schemas.microsoft.com/office/drawing/2014/main" val="28636673"/>
                    </a:ext>
                  </a:extLst>
                </a:gridCol>
              </a:tblGrid>
              <a:tr h="626415"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Parametro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Stima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Errore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LC 95%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P-value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47421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Intercetta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-16,3887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0,2925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-16,9619 | -15,8154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/>
                        <a:t>&lt;,0001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0,2370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0,2153 | 0,2588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Age</a:t>
                      </a:r>
                      <a:r>
                        <a:rPr lang="it-IT" baseline="30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-0,0014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-0,0016 | -0,0012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776865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aggiustato per area ed anno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0A4FABE-D200-2751-85B9-C19BFE8316FC}"/>
              </a:ext>
            </a:extLst>
          </p:cNvPr>
          <p:cNvSpPr txBox="1"/>
          <p:nvPr/>
        </p:nvSpPr>
        <p:spPr>
          <a:xfrm>
            <a:off x="3428999" y="5019496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Si osserva come la variabile age</a:t>
            </a:r>
            <a:r>
              <a:rPr lang="it-IT" sz="2400" baseline="30000" dirty="0"/>
              <a:t>2</a:t>
            </a:r>
            <a:r>
              <a:rPr lang="it-IT" sz="2400" dirty="0"/>
              <a:t> sia significativa, per cui si evidenzia la presenza di una tendenza quadratica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25521CD8-FB75-FDCA-3FCB-0E0458EB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E3980DD-0A66-EDF2-47F3-BB713AF6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16</a:t>
            </a:fld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67D3E36-252A-A88F-9D28-2020666754DC}"/>
              </a:ext>
            </a:extLst>
          </p:cNvPr>
          <p:cNvSpPr txBox="1"/>
          <p:nvPr/>
        </p:nvSpPr>
        <p:spPr>
          <a:xfrm>
            <a:off x="890154" y="2509802"/>
            <a:ext cx="356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Devianza / </a:t>
            </a:r>
            <a:r>
              <a:rPr lang="it-IT" dirty="0" err="1"/>
              <a:t>gdl</a:t>
            </a:r>
            <a:r>
              <a:rPr lang="it-IT" dirty="0"/>
              <a:t> = 1,0869</a:t>
            </a:r>
          </a:p>
        </p:txBody>
      </p:sp>
    </p:spTree>
    <p:extLst>
      <p:ext uri="{BB962C8B-B14F-4D97-AF65-F5344CB8AC3E}">
        <p14:creationId xmlns:p14="http://schemas.microsoft.com/office/powerpoint/2010/main" val="3829381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EC0B-A2CF-8C59-595D-F0EC6B4949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74857"/>
          </a:xfrm>
        </p:spPr>
        <p:txBody>
          <a:bodyPr>
            <a:normAutofit fontScale="90000"/>
          </a:bodyPr>
          <a:lstStyle/>
          <a:p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età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e </a:t>
            </a:r>
            <a:r>
              <a:rPr lang="en-US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</a:t>
            </a:r>
            <a:endParaRPr lang="it-IT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353243"/>
              </p:ext>
            </p:extLst>
          </p:nvPr>
        </p:nvGraphicFramePr>
        <p:xfrm>
          <a:off x="1271998" y="1870011"/>
          <a:ext cx="9648000" cy="299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00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254898067"/>
                    </a:ext>
                  </a:extLst>
                </a:gridCol>
                <a:gridCol w="160800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072997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2626123">
                  <a:extLst>
                    <a:ext uri="{9D8B030D-6E8A-4147-A177-3AD203B41FA5}">
                      <a16:colId xmlns:a16="http://schemas.microsoft.com/office/drawing/2014/main" val="1365967096"/>
                    </a:ext>
                  </a:extLst>
                </a:gridCol>
                <a:gridCol w="1124880">
                  <a:extLst>
                    <a:ext uri="{9D8B030D-6E8A-4147-A177-3AD203B41FA5}">
                      <a16:colId xmlns:a16="http://schemas.microsoft.com/office/drawing/2014/main" val="28636673"/>
                    </a:ext>
                  </a:extLst>
                </a:gridCol>
              </a:tblGrid>
              <a:tr h="333287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Parametro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dirty="0"/>
                        <a:t>Stima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Errore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LC 95%</a:t>
                      </a:r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P-</a:t>
                      </a:r>
                      <a:r>
                        <a:rPr lang="it-IT" sz="2000" dirty="0" err="1"/>
                        <a:t>value</a:t>
                      </a:r>
                      <a:endParaRPr lang="it-IT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Intercetta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-16,3887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0,2925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-16,9619 | -15,8154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Area</a:t>
                      </a:r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0</a:t>
                      </a:r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0,1681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0,0190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0,1309 | 0,2053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84280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/>
                        <a:t>1</a:t>
                      </a:r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dirty="0"/>
                        <a:t>0,000 | 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68474"/>
                  </a:ext>
                </a:extLst>
              </a:tr>
              <a:tr h="241298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0,2370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0,0111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dirty="0"/>
                        <a:t>0,2153 | 0,2588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856903"/>
                  </a:ext>
                </a:extLst>
              </a:tr>
              <a:tr h="244649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Age</a:t>
                      </a:r>
                      <a:r>
                        <a:rPr lang="it-IT" sz="2000" baseline="30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-0,0014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it-IT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0,0001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dirty="0"/>
                        <a:t>-0,0016 | -0,0012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/>
                        <a:t>&lt;,0001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75241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995154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aggiustato per area ed anno</a:t>
            </a: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FC6400AF-1EBC-2982-6EDE-EA1A40F4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FA25F5-55D2-DE6D-2FCD-15037A00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17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054ED64-1FA2-4A65-BF85-4AAE4948FDB8}"/>
              </a:ext>
            </a:extLst>
          </p:cNvPr>
          <p:cNvSpPr txBox="1"/>
          <p:nvPr/>
        </p:nvSpPr>
        <p:spPr>
          <a:xfrm>
            <a:off x="1340425" y="5254662"/>
            <a:ext cx="9511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Tasso per l’area 0 per età = e</a:t>
            </a:r>
            <a:r>
              <a:rPr lang="it-IT" sz="2000" baseline="30000" dirty="0"/>
              <a:t>-16,3887 + 0,1681 + 0,2370 * age - 0,0014 * age</a:t>
            </a:r>
            <a:r>
              <a:rPr lang="it-IT" sz="2000" baseline="50000" dirty="0"/>
              <a:t>2</a:t>
            </a:r>
            <a:r>
              <a:rPr lang="it-IT" sz="2000" baseline="30000" dirty="0"/>
              <a:t> </a:t>
            </a:r>
            <a:r>
              <a:rPr lang="it-IT" sz="2000" dirty="0"/>
              <a:t>* 100000</a:t>
            </a:r>
          </a:p>
          <a:p>
            <a:pPr algn="ctr"/>
            <a:r>
              <a:rPr lang="it-IT" sz="2000" dirty="0"/>
              <a:t>Tasso per l’area 1 per età = e</a:t>
            </a:r>
            <a:r>
              <a:rPr lang="it-IT" sz="2000" baseline="30000" dirty="0"/>
              <a:t>-16,3887 + 0,2370 * age - 0,0014 * age</a:t>
            </a:r>
            <a:r>
              <a:rPr lang="it-IT" sz="2000" baseline="50000" dirty="0"/>
              <a:t>2</a:t>
            </a:r>
            <a:r>
              <a:rPr lang="it-IT" sz="2000" baseline="30000" dirty="0"/>
              <a:t> </a:t>
            </a:r>
            <a:r>
              <a:rPr lang="it-IT" sz="2000" dirty="0"/>
              <a:t>* 100000</a:t>
            </a:r>
          </a:p>
        </p:txBody>
      </p:sp>
    </p:spTree>
    <p:extLst>
      <p:ext uri="{BB962C8B-B14F-4D97-AF65-F5344CB8AC3E}">
        <p14:creationId xmlns:p14="http://schemas.microsoft.com/office/powerpoint/2010/main" val="807582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A082CD98-A74E-20C5-706C-D310E6E41D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C0F0A42-8493-178A-996E-B5A1C83A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err="1"/>
              <a:t>Differenza</a:t>
            </a:r>
            <a:r>
              <a:rPr lang="en-US" sz="4000" dirty="0"/>
              <a:t> media </a:t>
            </a:r>
            <a:r>
              <a:rPr lang="en-US" sz="4000" dirty="0" err="1"/>
              <a:t>percentuale</a:t>
            </a:r>
            <a:r>
              <a:rPr lang="en-US" sz="4000" dirty="0"/>
              <a:t> </a:t>
            </a:r>
            <a:r>
              <a:rPr lang="en-US" sz="4000" dirty="0" err="1"/>
              <a:t>nel</a:t>
            </a:r>
            <a:r>
              <a:rPr lang="en-US" sz="4000" dirty="0"/>
              <a:t> </a:t>
            </a:r>
            <a:r>
              <a:rPr lang="en-US" sz="4000" dirty="0" err="1"/>
              <a:t>tasso</a:t>
            </a:r>
            <a:r>
              <a:rPr lang="en-US" sz="4000" dirty="0"/>
              <a:t> di CM per </a:t>
            </a:r>
            <a:r>
              <a:rPr lang="en-US" sz="4000" dirty="0" err="1"/>
              <a:t>età</a:t>
            </a:r>
            <a:endParaRPr lang="it-IT" sz="4000" dirty="0"/>
          </a:p>
        </p:txBody>
      </p:sp>
      <p:graphicFrame>
        <p:nvGraphicFramePr>
          <p:cNvPr id="11" name="Tabella 11">
            <a:extLst>
              <a:ext uri="{FF2B5EF4-FFF2-40B4-BE49-F238E27FC236}">
                <a16:creationId xmlns:a16="http://schemas.microsoft.com/office/drawing/2014/main" id="{BA2D471B-E8D4-A5DD-4B89-F3C173E3C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197984"/>
              </p:ext>
            </p:extLst>
          </p:nvPr>
        </p:nvGraphicFramePr>
        <p:xfrm>
          <a:off x="3467099" y="3128782"/>
          <a:ext cx="5257800" cy="157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3584390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348602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29065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92768634"/>
                    </a:ext>
                  </a:extLst>
                </a:gridCol>
              </a:tblGrid>
              <a:tr h="62641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I_DMP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DMP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S_DMP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9713"/>
                  </a:ext>
                </a:extLst>
              </a:tr>
              <a:tr h="47421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14,566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15,592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16,628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&lt;=45 anni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64273"/>
                  </a:ext>
                </a:extLst>
              </a:tr>
              <a:tr h="47421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5,978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7,993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10,047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&gt;45 anni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475745"/>
                  </a:ext>
                </a:extLst>
              </a:tr>
            </a:tbl>
          </a:graphicData>
        </a:graphic>
      </p:graphicFrame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B6055-99B2-CA76-66E8-78963AAC70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902476"/>
            <a:ext cx="9013374" cy="64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100" dirty="0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Modello con area, anno e </a:t>
            </a:r>
            <a:r>
              <a:rPr lang="it-IT" sz="3100" dirty="0" err="1">
                <a:solidFill>
                  <a:schemeClr val="tx2"/>
                </a:solidFill>
                <a:latin typeface="Aharoni" panose="02010803020104030203" pitchFamily="2" charset="-79"/>
                <a:cs typeface="Angsana New" panose="02020603050405020304" pitchFamily="18" charset="-34"/>
              </a:rPr>
              <a:t>spline</a:t>
            </a:r>
            <a:endParaRPr lang="it-IT" sz="3100" dirty="0">
              <a:solidFill>
                <a:schemeClr val="tx2"/>
              </a:solidFill>
              <a:latin typeface="Aharoni" panose="02010803020104030203" pitchFamily="2" charset="-79"/>
              <a:cs typeface="Angsana New" panose="02020603050405020304" pitchFamily="18" charset="-34"/>
            </a:endParaRPr>
          </a:p>
        </p:txBody>
      </p:sp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6D7582FC-294B-0F05-CE76-CE11E7A6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0B43615D-9A39-F92E-F72D-CAA64D21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0D61B857-4DE1-F3D3-BAB6-E6F451AF5F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prstClr val="white"/>
            </a:duotone>
            <a:alphaModFix amt="30000"/>
          </a:blip>
          <a:srcRect l="16939" r="28633" b="-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E7B9791-F36D-8950-0B7B-46119148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0" y="129092"/>
            <a:ext cx="11637819" cy="1325563"/>
          </a:xfrm>
        </p:spPr>
        <p:txBody>
          <a:bodyPr>
            <a:noAutofit/>
          </a:bodyPr>
          <a:lstStyle/>
          <a:p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Relazione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stimata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tra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età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e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tasso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di CM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nelle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due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aree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</a:t>
            </a:r>
            <a:r>
              <a:rPr lang="en-US" sz="4000" kern="1200" dirty="0" err="1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aggiustata</a:t>
            </a:r>
            <a:r>
              <a:rPr lang="en-US" sz="40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 per anno</a:t>
            </a:r>
            <a:endParaRPr lang="it-IT" sz="4000" dirty="0"/>
          </a:p>
        </p:txBody>
      </p:sp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D425CFC9-A45F-D338-B93B-2572A7EC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50987"/>
            <a:ext cx="4114800" cy="365125"/>
          </a:xfrm>
        </p:spPr>
        <p:txBody>
          <a:bodyPr/>
          <a:lstStyle/>
          <a:p>
            <a:r>
              <a:rPr lang="it-IT" dirty="0"/>
              <a:t>Metodi Statistici in Biomedicina, </a:t>
            </a:r>
            <a:r>
              <a:rPr lang="it-IT" dirty="0" err="1"/>
              <a:t>a.a</a:t>
            </a:r>
            <a:r>
              <a:rPr lang="it-IT" dirty="0"/>
              <a:t>. 2022/2023</a:t>
            </a:r>
            <a:br>
              <a:rPr lang="it-IT" dirty="0"/>
            </a:br>
            <a:r>
              <a:rPr lang="it-IT" dirty="0"/>
              <a:t>Giovanni Giacomo Cerasoli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90DD34E0-5D14-FD7B-1F93-50B14357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19</a:t>
            </a:fld>
            <a:endParaRPr lang="en-US"/>
          </a:p>
        </p:txBody>
      </p:sp>
      <p:pic>
        <p:nvPicPr>
          <p:cNvPr id="1030" name="Picture 6" descr="La procedura SGPlot">
            <a:extLst>
              <a:ext uri="{FF2B5EF4-FFF2-40B4-BE49-F238E27FC236}">
                <a16:creationId xmlns:a16="http://schemas.microsoft.com/office/drawing/2014/main" id="{4D95C75A-9901-E5B1-C443-1E027BF232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737" y="1518805"/>
            <a:ext cx="6364524" cy="477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091657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1276</Words>
  <Application>Microsoft Office PowerPoint</Application>
  <PresentationFormat>Widescreen</PresentationFormat>
  <Paragraphs>397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Aharoni</vt:lpstr>
      <vt:lpstr>Arial</vt:lpstr>
      <vt:lpstr>Avenir Next LT Pro</vt:lpstr>
      <vt:lpstr>Calibri</vt:lpstr>
      <vt:lpstr>FadeVTI</vt:lpstr>
      <vt:lpstr>Relazione tra nuovi casi di cancro mammario (cm) ed altre variabili</vt:lpstr>
      <vt:lpstr>Le variabili di partenza</vt:lpstr>
      <vt:lpstr>Le variabili create</vt:lpstr>
      <vt:lpstr>Variabile tasso</vt:lpstr>
      <vt:lpstr>Tasso di cancro mammario - età</vt:lpstr>
      <vt:lpstr>Tasso di cancro mammario - anno</vt:lpstr>
      <vt:lpstr>Tasso di cancro mammario - area</vt:lpstr>
      <vt:lpstr>Andamento tasso di CM nelle due aree per anno</vt:lpstr>
      <vt:lpstr>Andamento tasso di CM nelle due aree per età</vt:lpstr>
      <vt:lpstr>Relazione tra area e tasso di CM</vt:lpstr>
      <vt:lpstr>Relazione tra area e tasso di CM</vt:lpstr>
      <vt:lpstr>Relazione tra area e tasso di CM</vt:lpstr>
      <vt:lpstr>Relazione tra area e tasso di CM</vt:lpstr>
      <vt:lpstr>Eventuale tendenza non lineare tra tasso di CM per età</vt:lpstr>
      <vt:lpstr>Eventuale tendenza non lineare tra log(tasso) di CM per età</vt:lpstr>
      <vt:lpstr>Eventuale tendenza non lineare tra tasso di CM per età</vt:lpstr>
      <vt:lpstr>Relazione tra età e tasso di CM</vt:lpstr>
      <vt:lpstr>Differenza media percentuale nel tasso di CM per età</vt:lpstr>
      <vt:lpstr>Relazione stimata tra età e tasso di CM nelle due aree aggiustata per anno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Relazione tra nuovi casi di cancro mammario ed altre variabili</dc:title>
  <dc:creator>Giovanni Giacomo Cerasoli</dc:creator>
  <cp:lastModifiedBy>Giovanni Giacomo Cerasoli</cp:lastModifiedBy>
  <cp:revision>70</cp:revision>
  <dcterms:created xsi:type="dcterms:W3CDTF">2023-05-08T14:38:40Z</dcterms:created>
  <dcterms:modified xsi:type="dcterms:W3CDTF">2023-05-18T10:08:11Z</dcterms:modified>
</cp:coreProperties>
</file>